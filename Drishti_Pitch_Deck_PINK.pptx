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Theft</c:v>
                </c:pt>
              </c:strCache>
            </c:strRef>
          </c:tx>
          <c:spPr>
            <a:solidFill>
              <a:srgbClr val="FF3D7F"/>
            </a:solidFill>
            <a:ln w="38100" cap="flat">
              <a:solidFill>
                <a:srgbClr val="FF3D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3D7F"/>
              </a:solidFill>
              <a:ln w="9525" cap="flat">
                <a:solidFill>
                  <a:srgbClr val="FF3D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</c:v>
                </c:pt>
                <c:pt idx="1">
                  <c:v>38</c:v>
                </c:pt>
                <c:pt idx="2">
                  <c:v>45</c:v>
                </c:pt>
                <c:pt idx="3">
                  <c:v>52</c:v>
                </c:pt>
                <c:pt idx="4">
                  <c:v>61</c:v>
                </c:pt>
                <c:pt idx="5">
                  <c:v>68</c:v>
                </c:pt>
                <c:pt idx="6">
                  <c:v>74</c:v>
                </c:pt>
                <c:pt idx="7">
                  <c:v>66</c:v>
                </c:pt>
                <c:pt idx="8">
                  <c:v>58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Assault</c:v>
                </c:pt>
              </c:strCache>
            </c:strRef>
          </c:tx>
          <c:spPr>
            <a:solidFill>
              <a:srgbClr val="9B5DE5"/>
            </a:solidFill>
            <a:ln w="38100" cap="flat">
              <a:solidFill>
                <a:srgbClr val="9B5D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B5DE5"/>
              </a:solidFill>
              <a:ln w="9525" cap="flat">
                <a:solidFill>
                  <a:srgbClr val="9B5D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21</c:v>
                </c:pt>
                <c:pt idx="1">
                  <c:v>19</c:v>
                </c:pt>
                <c:pt idx="2">
                  <c:v>24</c:v>
                </c:pt>
                <c:pt idx="3">
                  <c:v>22</c:v>
                </c:pt>
                <c:pt idx="4">
                  <c:v>28</c:v>
                </c:pt>
                <c:pt idx="5">
                  <c:v>31</c:v>
                </c:pt>
                <c:pt idx="6">
                  <c:v>35</c:v>
                </c:pt>
                <c:pt idx="7">
                  <c:v>30</c:v>
                </c:pt>
                <c:pt idx="8">
                  <c:v>26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E7C8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F1D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E7C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E7C8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0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290A20">
              <a:alpha val="0"/>
            </a:srgbClr>
          </a:solidFill>
          <a:ln w="19050">
            <a:solidFill>
              <a:srgbClr val="FF3D7F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7772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3E10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974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 ·  ದೃಷ್ಟಿ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Crime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&amp; Analytics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841248" y="4343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D9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state crime database in English or Kannada — by voice — and get answers that are visual, evidence-backed, and explainable.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41248" y="55321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5532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Catalyst-native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511296" y="55321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11296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340096" y="5532120"/>
            <a:ext cx="1961388" cy="457200"/>
          </a:xfrm>
          <a:prstGeom prst="roundRect">
            <a:avLst>
              <a:gd name="adj" fmla="val 5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0096" y="5532120"/>
            <a:ext cx="1961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ಕನ್ನಡ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84364" y="553212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84364" y="553212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41248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KSPH26  ·  Datathon 2026  ·  Karnataka State Police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869680" y="6355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ದೃಷ್ಟಿ = insight / vision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Crime data holds the answers — but nobody can ask it questions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496312"/>
            <a:ext cx="128016" cy="1088136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24414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behind SQL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293522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FIRs, histories, and case links need dashboards and query skills field officers don't have.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6656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86600" y="2496312"/>
            <a:ext cx="128016" cy="1088136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10" name="Text 8"/>
          <p:cNvSpPr/>
          <p:nvPr/>
        </p:nvSpPr>
        <p:spPr>
          <a:xfrm>
            <a:off x="7424928" y="24414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relationships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24928" y="293522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between accused, victims, locations, accounts and MO stay buried in rows and columns.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43000" y="4599432"/>
            <a:ext cx="128016" cy="1088136"/>
          </a:xfrm>
          <a:prstGeom prst="roundRect">
            <a:avLst>
              <a:gd name="adj" fmla="val 50000"/>
            </a:avLst>
          </a:prstGeom>
          <a:solidFill>
            <a:srgbClr val="9B5DE5"/>
          </a:solidFill>
          <a:ln/>
        </p:spPr>
      </p:sp>
      <p:sp>
        <p:nvSpPr>
          <p:cNvPr id="14" name="Text 12"/>
          <p:cNvSpPr/>
          <p:nvPr/>
        </p:nvSpPr>
        <p:spPr>
          <a:xfrm>
            <a:off x="1481328" y="45445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explainable or auditable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81328" y="503834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arrive as black boxes — unacceptable for evidence and accountability.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66560" y="42519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4599432"/>
            <a:ext cx="128016" cy="108813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424928" y="45445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barrier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24928" y="503834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who don't work in English are cut off from the database entirely.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0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290A20">
              <a:alpha val="0"/>
            </a:srgbClr>
          </a:solidFill>
          <a:ln w="19050">
            <a:solidFill>
              <a:srgbClr val="FF3D7F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 turns the crime database into a conversation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9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Investigators, analysts, supervisors and policymakers ask questions the way they think — and get answers backed by a transparent evidence trail.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6400800" cy="3520440"/>
          </a:xfrm>
          <a:prstGeom prst="roundRect">
            <a:avLst>
              <a:gd name="adj" fmla="val 3636"/>
            </a:avLst>
          </a:prstGeom>
          <a:solidFill>
            <a:srgbClr val="230A1C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3063240"/>
            <a:ext cx="4343400" cy="777240"/>
          </a:xfrm>
          <a:prstGeom prst="roundRect">
            <a:avLst>
              <a:gd name="adj" fmla="val 16471"/>
            </a:avLst>
          </a:prstGeom>
          <a:solidFill>
            <a:srgbClr val="FF3D7F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30632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network around the accused in FIR 142/2025 and flag organized-crime links.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43000" y="4069080"/>
            <a:ext cx="4754880" cy="1051560"/>
          </a:xfrm>
          <a:prstGeom prst="roundRect">
            <a:avLst>
              <a:gd name="adj" fmla="val 12174"/>
            </a:avLst>
          </a:prstGeom>
          <a:solidFill>
            <a:srgbClr val="4E1540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0690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 P-3391 links to 4 prior FIRs and a 3-member cluster.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FIR 142/2025, 88/2024, 51/2024.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08960" y="5303520"/>
            <a:ext cx="3794760" cy="658368"/>
          </a:xfrm>
          <a:prstGeom prst="roundRect">
            <a:avLst>
              <a:gd name="adj" fmla="val 19444"/>
            </a:avLst>
          </a:prstGeom>
          <a:solidFill>
            <a:srgbClr val="FF3D7F"/>
          </a:solidFill>
          <a:ln/>
        </p:spPr>
      </p:sp>
      <p:sp>
        <p:nvSpPr>
          <p:cNvPr id="14" name="Text 12"/>
          <p:cNvSpPr/>
          <p:nvPr/>
        </p:nvSpPr>
        <p:spPr>
          <a:xfrm>
            <a:off x="3218688" y="53035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ಬೆಂಗಳೂರು ದಕ್ಷಿಣದ ಕಳ್ಳತನದ ಹಾಟ್‌ಸ್ಪಾಟ್‌ಗಳು?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60533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Voice + text  ·  English &amp; ಕನ್ನಡ  ·  context-aware follow-ups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2743200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9832" y="29169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18" name="Text 16"/>
          <p:cNvSpPr/>
          <p:nvPr/>
        </p:nvSpPr>
        <p:spPr>
          <a:xfrm>
            <a:off x="7799832" y="2916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48472" y="274320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FIR IDs &amp; records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3639312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99832" y="38130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22" name="Text 20"/>
          <p:cNvSpPr/>
          <p:nvPr/>
        </p:nvSpPr>
        <p:spPr>
          <a:xfrm>
            <a:off x="7799832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48472" y="3639312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hotspot maps, trend charts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35240" y="4535424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9832" y="47091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26" name="Text 24"/>
          <p:cNvSpPr/>
          <p:nvPr/>
        </p:nvSpPr>
        <p:spPr>
          <a:xfrm>
            <a:off x="7799832" y="4709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48472" y="453542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Kannada, voice-enabled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635240" y="5431536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9832" y="5605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30" name="Text 28"/>
          <p:cNvSpPr/>
          <p:nvPr/>
        </p:nvSpPr>
        <p:spPr>
          <a:xfrm>
            <a:off x="7799832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48472" y="5431536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+ full audit log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pillars, built deep for the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10312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258" y="2289658"/>
            <a:ext cx="404165" cy="404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26280" y="212140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 w="12700">
            <a:solidFill>
              <a:srgbClr val="F1DC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26280" y="2121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148840" y="21214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Intelligence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07008" y="3017520"/>
            <a:ext cx="4489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chatbot over FIRs, accused, victims, locations &amp; history. English + Kannada, voice, PDF export.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66560" y="17373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0" y="210312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858" y="2289658"/>
            <a:ext cx="404165" cy="40416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69880" y="212140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 w="12700">
            <a:solidFill>
              <a:srgbClr val="F1DCE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469880" y="2121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2 · 7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092440" y="21214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Relationship Analysis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150608" y="3017520"/>
            <a:ext cx="4489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of accused ↔ victims ↔ locations ↔ accounts. Detects repeat-offender &amp; organized-crime clusters.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22960" y="42062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188720" y="45720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9B5DE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258" y="4758538"/>
            <a:ext cx="404165" cy="40416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526280" y="459028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 w="12700">
            <a:solidFill>
              <a:srgbClr val="F1DCE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26280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148840" y="459028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&amp; Trend Analytics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207008" y="5486400"/>
            <a:ext cx="4489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by time, geography, type &amp; MO. Hotspot map, seasonal and emerging-cluster detection.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766560" y="42062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132320" y="45720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858" y="4758538"/>
            <a:ext cx="404165" cy="40416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469880" y="459028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 w="12700">
            <a:solidFill>
              <a:srgbClr val="F1DCE9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469880" y="4590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5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092440" y="459028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Offender Profiling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7150608" y="5486400"/>
            <a:ext cx="4489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Repeat-offender ID, behavioral/MO profiling and AI risk scoring to prioritize investigation.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0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290A20">
              <a:alpha val="0"/>
            </a:srgbClr>
          </a:solidFill>
          <a:ln w="19050">
            <a:solidFill>
              <a:srgbClr val="FF3D7F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22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spoken question to a governed, cited answer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1892" y="2560320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235" y="2744663"/>
            <a:ext cx="399410" cy="3994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14400" y="38587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text,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ಕನ್ನಡ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88920" y="3108960"/>
            <a:ext cx="178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2967228" y="228600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2560320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503" y="2744663"/>
            <a:ext cx="399410" cy="3994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31820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967228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058668" y="38587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parses intent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Zia NER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933188" y="3108960"/>
            <a:ext cx="178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5111496" y="228600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10428" y="2560320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771" y="2744663"/>
            <a:ext cx="399410" cy="39941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76088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111496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5202936" y="38587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allowlist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Data Store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077456" y="3108960"/>
            <a:ext cx="178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3"/>
          <p:cNvSpPr/>
          <p:nvPr/>
        </p:nvSpPr>
        <p:spPr>
          <a:xfrm>
            <a:off x="7255764" y="228600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854696" y="2560320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4E154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039" y="2744663"/>
            <a:ext cx="399410" cy="39941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20356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7255764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7347204" y="38587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evidence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+ confidence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9221724" y="3108960"/>
            <a:ext cx="178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35" name="Shape 29"/>
          <p:cNvSpPr/>
          <p:nvPr/>
        </p:nvSpPr>
        <p:spPr>
          <a:xfrm>
            <a:off x="9400032" y="2286000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998964" y="2560320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3307" y="2744663"/>
            <a:ext cx="399410" cy="39941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564624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9400032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</a:t>
            </a:r>
            <a:endParaRPr lang="en-US" sz="1700" dirty="0"/>
          </a:p>
        </p:txBody>
      </p:sp>
      <p:sp>
        <p:nvSpPr>
          <p:cNvPr id="40" name="Text 33"/>
          <p:cNvSpPr/>
          <p:nvPr/>
        </p:nvSpPr>
        <p:spPr>
          <a:xfrm>
            <a:off x="9491472" y="38587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filter +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822960" y="5074920"/>
            <a:ext cx="10543032" cy="1051560"/>
          </a:xfrm>
          <a:prstGeom prst="roundRect">
            <a:avLst>
              <a:gd name="adj" fmla="val 10435"/>
            </a:avLst>
          </a:prstGeom>
          <a:solidFill>
            <a:srgbClr val="230A1C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1097280" y="5074920"/>
            <a:ext cx="9994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runs raw SQL. Intent maps to parameterized, vetted query templates — and no answer is shown without its evidence array.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DRISHTI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and governed — in every response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6235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1488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3A0F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285" y="23244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1945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03120" y="2651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Area 9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88720" y="3200400"/>
            <a:ext cx="4892040" cy="2606040"/>
          </a:xfrm>
          <a:prstGeom prst="roundRect">
            <a:avLst>
              <a:gd name="adj" fmla="val 3509"/>
            </a:avLst>
          </a:prstGeom>
          <a:solidFill>
            <a:srgbClr val="230A1C"/>
          </a:solidFill>
          <a:ln/>
        </p:spPr>
      </p:sp>
      <p:sp>
        <p:nvSpPr>
          <p:cNvPr id="10" name="Text 7"/>
          <p:cNvSpPr/>
          <p:nvPr/>
        </p:nvSpPr>
        <p:spPr>
          <a:xfrm>
            <a:off x="1389888" y="338328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49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9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"answer_text":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B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"…",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9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"language":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B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"kn",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9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"evidence":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FF8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["FIR 142/2025"],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9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"reasoning":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["resolved accused →", "4 priors"],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9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B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"high"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49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8720" y="58978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renders without its evidence array — the guardrail against ungrounded claims.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20840" y="1783080"/>
            <a:ext cx="4663440" cy="4343400"/>
          </a:xfrm>
          <a:prstGeom prst="roundRect">
            <a:avLst>
              <a:gd name="adj" fmla="val 2526"/>
            </a:avLst>
          </a:prstGeom>
          <a:solidFill>
            <a:srgbClr val="290A20"/>
          </a:solidFill>
          <a:ln w="12700">
            <a:solidFill>
              <a:srgbClr val="6E2452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86600" y="21488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4E154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165" y="232440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0100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00100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Area 10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086600" y="320040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3E1030"/>
          </a:solidFill>
          <a:ln/>
        </p:spPr>
      </p:sp>
      <p:sp>
        <p:nvSpPr>
          <p:cNvPr id="18" name="Shape 14"/>
          <p:cNvSpPr/>
          <p:nvPr/>
        </p:nvSpPr>
        <p:spPr>
          <a:xfrm>
            <a:off x="7251192" y="3328416"/>
            <a:ext cx="182880" cy="182880"/>
          </a:xfrm>
          <a:prstGeom prst="ellipse">
            <a:avLst/>
          </a:prstGeom>
          <a:solidFill>
            <a:srgbClr val="17B978"/>
          </a:solidFill>
          <a:ln/>
        </p:spPr>
      </p:sp>
      <p:sp>
        <p:nvSpPr>
          <p:cNvPr id="19" name="Text 15"/>
          <p:cNvSpPr/>
          <p:nvPr/>
        </p:nvSpPr>
        <p:spPr>
          <a:xfrm>
            <a:off x="7589520" y="32004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7086600" y="374904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3E1030"/>
          </a:solidFill>
          <a:ln/>
        </p:spPr>
      </p:sp>
      <p:sp>
        <p:nvSpPr>
          <p:cNvPr id="21" name="Shape 17"/>
          <p:cNvSpPr/>
          <p:nvPr/>
        </p:nvSpPr>
        <p:spPr>
          <a:xfrm>
            <a:off x="7251192" y="3877056"/>
            <a:ext cx="182880" cy="182880"/>
          </a:xfrm>
          <a:prstGeom prst="ellipse">
            <a:avLst/>
          </a:prstGeom>
          <a:solidFill>
            <a:srgbClr val="17B978"/>
          </a:solidFill>
          <a:ln/>
        </p:spPr>
      </p:sp>
      <p:sp>
        <p:nvSpPr>
          <p:cNvPr id="22" name="Text 18"/>
          <p:cNvSpPr/>
          <p:nvPr/>
        </p:nvSpPr>
        <p:spPr>
          <a:xfrm>
            <a:off x="7589520" y="37490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086600" y="429768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3E1030"/>
          </a:solidFill>
          <a:ln/>
        </p:spPr>
      </p:sp>
      <p:sp>
        <p:nvSpPr>
          <p:cNvPr id="24" name="Shape 20"/>
          <p:cNvSpPr/>
          <p:nvPr/>
        </p:nvSpPr>
        <p:spPr>
          <a:xfrm>
            <a:off x="7251192" y="4425696"/>
            <a:ext cx="182880" cy="182880"/>
          </a:xfrm>
          <a:prstGeom prst="ellipse">
            <a:avLst/>
          </a:prstGeom>
          <a:solidFill>
            <a:srgbClr val="17B978"/>
          </a:solidFill>
          <a:ln/>
        </p:spPr>
      </p:sp>
      <p:sp>
        <p:nvSpPr>
          <p:cNvPr id="25" name="Text 21"/>
          <p:cNvSpPr/>
          <p:nvPr/>
        </p:nvSpPr>
        <p:spPr>
          <a:xfrm>
            <a:off x="7589520" y="42976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7086600" y="484632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3E1030"/>
          </a:solidFill>
          <a:ln/>
        </p:spPr>
      </p:sp>
      <p:sp>
        <p:nvSpPr>
          <p:cNvPr id="27" name="Shape 23"/>
          <p:cNvSpPr/>
          <p:nvPr/>
        </p:nvSpPr>
        <p:spPr>
          <a:xfrm>
            <a:off x="7251192" y="4974336"/>
            <a:ext cx="182880" cy="182880"/>
          </a:xfrm>
          <a:prstGeom prst="ellipse">
            <a:avLst/>
          </a:prstGeom>
          <a:solidFill>
            <a:srgbClr val="17B978"/>
          </a:solidFill>
          <a:ln/>
        </p:spPr>
      </p:sp>
      <p:sp>
        <p:nvSpPr>
          <p:cNvPr id="28" name="Text 24"/>
          <p:cNvSpPr/>
          <p:nvPr/>
        </p:nvSpPr>
        <p:spPr>
          <a:xfrm>
            <a:off x="7589520" y="48463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7086600" y="5486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access by jurisdiction  · 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every query &amp; record touched.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0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290A20">
              <a:alpha val="0"/>
            </a:srgbClr>
          </a:solidFill>
          <a:ln w="19050">
            <a:solidFill>
              <a:srgbClr val="FF3D7F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 front end, Catalyst-native back end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41248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React codebase for web, React Native for mobile — every backend service runs on Zoho Catalyst.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3D7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6596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017520" y="1965960"/>
            <a:ext cx="4037076" cy="1188720"/>
          </a:xfrm>
          <a:prstGeom prst="roundRect">
            <a:avLst>
              <a:gd name="adj" fmla="val 7692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225856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8393" y="2403409"/>
            <a:ext cx="313822" cy="31382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023360" y="2185416"/>
            <a:ext cx="2848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23360" y="2569464"/>
            <a:ext cx="2848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· responsive SPA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28916" y="1965960"/>
            <a:ext cx="4037076" cy="1188720"/>
          </a:xfrm>
          <a:prstGeom prst="roundRect">
            <a:avLst>
              <a:gd name="adj" fmla="val 7692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84948" y="225856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D81E7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789" y="2403409"/>
            <a:ext cx="313822" cy="31382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334756" y="2185416"/>
            <a:ext cx="2848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334756" y="2569464"/>
            <a:ext cx="2848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iOS + Android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22960" y="3310128"/>
            <a:ext cx="1965960" cy="822960"/>
          </a:xfrm>
          <a:prstGeom prst="roundRect">
            <a:avLst>
              <a:gd name="adj" fmla="val 11111"/>
            </a:avLst>
          </a:prstGeom>
          <a:solidFill>
            <a:srgbClr val="FF3D7F"/>
          </a:solidFill>
          <a:ln/>
        </p:spPr>
      </p:sp>
      <p:sp>
        <p:nvSpPr>
          <p:cNvPr id="21" name="Text 17"/>
          <p:cNvSpPr/>
          <p:nvPr/>
        </p:nvSpPr>
        <p:spPr>
          <a:xfrm>
            <a:off x="914400" y="331012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3017520" y="3191256"/>
            <a:ext cx="3112618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00400" y="3374136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4" name="Text 20"/>
          <p:cNvSpPr/>
          <p:nvPr/>
        </p:nvSpPr>
        <p:spPr>
          <a:xfrm>
            <a:off x="3364992" y="3191256"/>
            <a:ext cx="2637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Cytoscape.js — network graph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76442" y="3191256"/>
            <a:ext cx="2574950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459322" y="3374136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7" name="Text 23"/>
          <p:cNvSpPr/>
          <p:nvPr/>
        </p:nvSpPr>
        <p:spPr>
          <a:xfrm>
            <a:off x="6623914" y="3191256"/>
            <a:ext cx="2099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— hotspot maps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8997696" y="3191256"/>
            <a:ext cx="2126894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180576" y="3374136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30" name="Text 26"/>
          <p:cNvSpPr/>
          <p:nvPr/>
        </p:nvSpPr>
        <p:spPr>
          <a:xfrm>
            <a:off x="9345168" y="3191256"/>
            <a:ext cx="1651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— trends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3017520" y="3794760"/>
            <a:ext cx="2574950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200400" y="3977640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33" name="Text 29"/>
          <p:cNvSpPr/>
          <p:nvPr/>
        </p:nvSpPr>
        <p:spPr>
          <a:xfrm>
            <a:off x="3364992" y="3794760"/>
            <a:ext cx="2099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— voice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822960" y="4224528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3D7F"/>
          </a:solidFill>
          <a:ln/>
        </p:spPr>
      </p:sp>
      <p:sp>
        <p:nvSpPr>
          <p:cNvPr id="35" name="Text 31"/>
          <p:cNvSpPr/>
          <p:nvPr/>
        </p:nvSpPr>
        <p:spPr>
          <a:xfrm>
            <a:off x="914400" y="4242816"/>
            <a:ext cx="1783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CATALYST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914400" y="5148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017520" y="4311396"/>
            <a:ext cx="1230782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3200400" y="4494276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39" name="Text 35"/>
          <p:cNvSpPr/>
          <p:nvPr/>
        </p:nvSpPr>
        <p:spPr>
          <a:xfrm>
            <a:off x="3364992" y="4311396"/>
            <a:ext cx="755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AppSail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4394606" y="4311396"/>
            <a:ext cx="2395728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577486" y="4494276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42" name="Text 38"/>
          <p:cNvSpPr/>
          <p:nvPr/>
        </p:nvSpPr>
        <p:spPr>
          <a:xfrm>
            <a:off x="4742078" y="43113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Functions</a:t>
            </a:r>
            <a:endParaRPr lang="en-US" sz="1250" dirty="0"/>
          </a:p>
        </p:txBody>
      </p:sp>
      <p:sp>
        <p:nvSpPr>
          <p:cNvPr id="43" name="Shape 39"/>
          <p:cNvSpPr/>
          <p:nvPr/>
        </p:nvSpPr>
        <p:spPr>
          <a:xfrm>
            <a:off x="6936638" y="4311396"/>
            <a:ext cx="2485339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119518" y="4494276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45" name="Text 41"/>
          <p:cNvSpPr/>
          <p:nvPr/>
        </p:nvSpPr>
        <p:spPr>
          <a:xfrm>
            <a:off x="7284110" y="4311396"/>
            <a:ext cx="2009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(RBAC)</a:t>
            </a:r>
            <a:endParaRPr lang="en-US" sz="1250" dirty="0"/>
          </a:p>
        </p:txBody>
      </p:sp>
      <p:sp>
        <p:nvSpPr>
          <p:cNvPr id="46" name="Shape 42"/>
          <p:cNvSpPr/>
          <p:nvPr/>
        </p:nvSpPr>
        <p:spPr>
          <a:xfrm>
            <a:off x="9568282" y="4311396"/>
            <a:ext cx="1499616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751162" y="4494276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48" name="Text 44"/>
          <p:cNvSpPr/>
          <p:nvPr/>
        </p:nvSpPr>
        <p:spPr>
          <a:xfrm>
            <a:off x="9915754" y="4311396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250" dirty="0"/>
          </a:p>
        </p:txBody>
      </p:sp>
      <p:sp>
        <p:nvSpPr>
          <p:cNvPr id="49" name="Shape 45"/>
          <p:cNvSpPr/>
          <p:nvPr/>
        </p:nvSpPr>
        <p:spPr>
          <a:xfrm>
            <a:off x="3017520" y="4914900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200400" y="5097780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51" name="Text 47"/>
          <p:cNvSpPr/>
          <p:nvPr/>
        </p:nvSpPr>
        <p:spPr>
          <a:xfrm>
            <a:off x="3364992" y="4914900"/>
            <a:ext cx="576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250" dirty="0"/>
          </a:p>
        </p:txBody>
      </p:sp>
      <p:sp>
        <p:nvSpPr>
          <p:cNvPr id="52" name="Shape 48"/>
          <p:cNvSpPr/>
          <p:nvPr/>
        </p:nvSpPr>
        <p:spPr>
          <a:xfrm>
            <a:off x="4215384" y="4914900"/>
            <a:ext cx="1230782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398264" y="5097780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54" name="Text 50"/>
          <p:cNvSpPr/>
          <p:nvPr/>
        </p:nvSpPr>
        <p:spPr>
          <a:xfrm>
            <a:off x="4562856" y="4914900"/>
            <a:ext cx="755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Stratus</a:t>
            </a:r>
            <a:endParaRPr lang="en-US" sz="1250" dirty="0"/>
          </a:p>
        </p:txBody>
      </p:sp>
      <p:sp>
        <p:nvSpPr>
          <p:cNvPr id="55" name="Shape 51"/>
          <p:cNvSpPr/>
          <p:nvPr/>
        </p:nvSpPr>
        <p:spPr>
          <a:xfrm>
            <a:off x="5592470" y="4914900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5775350" y="5097780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57" name="Text 53"/>
          <p:cNvSpPr/>
          <p:nvPr/>
        </p:nvSpPr>
        <p:spPr>
          <a:xfrm>
            <a:off x="5939942" y="4914900"/>
            <a:ext cx="576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50" dirty="0"/>
          </a:p>
        </p:txBody>
      </p:sp>
      <p:sp>
        <p:nvSpPr>
          <p:cNvPr id="58" name="Shape 54"/>
          <p:cNvSpPr/>
          <p:nvPr/>
        </p:nvSpPr>
        <p:spPr>
          <a:xfrm>
            <a:off x="6790334" y="4914900"/>
            <a:ext cx="1230782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6973214" y="5097780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60" name="Text 56"/>
          <p:cNvSpPr/>
          <p:nvPr/>
        </p:nvSpPr>
        <p:spPr>
          <a:xfrm>
            <a:off x="7137806" y="4914900"/>
            <a:ext cx="755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250" dirty="0"/>
          </a:p>
        </p:txBody>
      </p:sp>
      <p:sp>
        <p:nvSpPr>
          <p:cNvPr id="61" name="Shape 57"/>
          <p:cNvSpPr/>
          <p:nvPr/>
        </p:nvSpPr>
        <p:spPr>
          <a:xfrm>
            <a:off x="8167421" y="4914900"/>
            <a:ext cx="1858061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8350301" y="5097780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63" name="Text 59"/>
          <p:cNvSpPr/>
          <p:nvPr/>
        </p:nvSpPr>
        <p:spPr>
          <a:xfrm>
            <a:off x="8514893" y="4914900"/>
            <a:ext cx="13825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Scheduling</a:t>
            </a:r>
            <a:endParaRPr lang="en-US" sz="1250" dirty="0"/>
          </a:p>
        </p:txBody>
      </p:sp>
      <p:sp>
        <p:nvSpPr>
          <p:cNvPr id="64" name="Shape 60"/>
          <p:cNvSpPr/>
          <p:nvPr/>
        </p:nvSpPr>
        <p:spPr>
          <a:xfrm>
            <a:off x="822960" y="5550408"/>
            <a:ext cx="1965960" cy="822960"/>
          </a:xfrm>
          <a:prstGeom prst="roundRect">
            <a:avLst>
              <a:gd name="adj" fmla="val 11111"/>
            </a:avLst>
          </a:prstGeom>
          <a:solidFill>
            <a:srgbClr val="FF3D7F"/>
          </a:solidFill>
          <a:ln/>
        </p:spPr>
      </p:sp>
      <p:sp>
        <p:nvSpPr>
          <p:cNvPr id="65" name="Text 61"/>
          <p:cNvSpPr/>
          <p:nvPr/>
        </p:nvSpPr>
        <p:spPr>
          <a:xfrm>
            <a:off x="914400" y="55504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ML</a:t>
            </a:r>
            <a:endParaRPr lang="en-US" sz="1350" dirty="0"/>
          </a:p>
        </p:txBody>
      </p:sp>
      <p:sp>
        <p:nvSpPr>
          <p:cNvPr id="66" name="Shape 62"/>
          <p:cNvSpPr/>
          <p:nvPr/>
        </p:nvSpPr>
        <p:spPr>
          <a:xfrm>
            <a:off x="3017520" y="5431536"/>
            <a:ext cx="2664562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3200400" y="5614416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68" name="Text 64"/>
          <p:cNvSpPr/>
          <p:nvPr/>
        </p:nvSpPr>
        <p:spPr>
          <a:xfrm>
            <a:off x="3364992" y="5431536"/>
            <a:ext cx="2189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 OCR + NER — Kannada</a:t>
            </a:r>
            <a:endParaRPr lang="en-US" sz="1250" dirty="0"/>
          </a:p>
        </p:txBody>
      </p:sp>
      <p:sp>
        <p:nvSpPr>
          <p:cNvPr id="69" name="Shape 65"/>
          <p:cNvSpPr/>
          <p:nvPr/>
        </p:nvSpPr>
        <p:spPr>
          <a:xfrm>
            <a:off x="5828386" y="5431536"/>
            <a:ext cx="2843784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011266" y="5614416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71" name="Text 67"/>
          <p:cNvSpPr/>
          <p:nvPr/>
        </p:nvSpPr>
        <p:spPr>
          <a:xfrm>
            <a:off x="6175858" y="543153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QuickML — risk &amp; forecast</a:t>
            </a:r>
            <a:endParaRPr lang="en-US" sz="1250" dirty="0"/>
          </a:p>
        </p:txBody>
      </p:sp>
      <p:sp>
        <p:nvSpPr>
          <p:cNvPr id="72" name="Shape 68"/>
          <p:cNvSpPr/>
          <p:nvPr/>
        </p:nvSpPr>
        <p:spPr>
          <a:xfrm>
            <a:off x="3017520" y="6035040"/>
            <a:ext cx="2574950" cy="457200"/>
          </a:xfrm>
          <a:prstGeom prst="roundRect">
            <a:avLst>
              <a:gd name="adj" fmla="val 20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3200400" y="6217920"/>
            <a:ext cx="91440" cy="9144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74" name="Text 70"/>
          <p:cNvSpPr/>
          <p:nvPr/>
        </p:nvSpPr>
        <p:spPr>
          <a:xfrm>
            <a:off x="3364992" y="6035040"/>
            <a:ext cx="2099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NL understanding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Trends, hotspots and risk — at a glance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7665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057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incidents by month — theft vs. assault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051560" y="2514600"/>
          <a:ext cx="6263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17830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0" y="1783080"/>
            <a:ext cx="128016" cy="1325880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/>
        </p:spPr>
      </p:sp>
      <p:sp>
        <p:nvSpPr>
          <p:cNvPr id="9" name="Text 6"/>
          <p:cNvSpPr/>
          <p:nvPr/>
        </p:nvSpPr>
        <p:spPr>
          <a:xfrm>
            <a:off x="8183880" y="194767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02168" y="26791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clusters flagged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63840" y="3264408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0" y="3264408"/>
            <a:ext cx="128016" cy="1325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3429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202168" y="4160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offenders risk-ranked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63840" y="4745736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63840" y="4745736"/>
            <a:ext cx="128016" cy="13258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17" name="Text 14"/>
          <p:cNvSpPr/>
          <p:nvPr/>
        </p:nvSpPr>
        <p:spPr>
          <a:xfrm>
            <a:off x="8183880" y="49103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8202168" y="56418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→ priority queue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A0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10 areas addressed — honest about depth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95681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90A20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72768" y="178308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98424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7B978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9842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706624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4128" y="288036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90A20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72768" y="270662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Relationship Analysis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29077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7B978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9077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630168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24128" y="38039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90A20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72768" y="363016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&amp; Trend Analytics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83133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7B978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8313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553712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4128" y="4727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90A20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4727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72768" y="455371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Sociological Insights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663440" y="47548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754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477256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4128" y="56509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90A20"/>
          </a:solidFill>
          <a:ln/>
        </p:spPr>
      </p:sp>
      <p:sp>
        <p:nvSpPr>
          <p:cNvPr id="30" name="Text 28"/>
          <p:cNvSpPr/>
          <p:nvPr/>
        </p:nvSpPr>
        <p:spPr>
          <a:xfrm>
            <a:off x="1024128" y="5650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72768" y="5477256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Offender Profiling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663440" y="567842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7B978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56784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1783080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67728" y="195681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90A20"/>
          </a:solidFill>
          <a:ln/>
        </p:spPr>
      </p:sp>
      <p:sp>
        <p:nvSpPr>
          <p:cNvPr id="36" name="Text 34"/>
          <p:cNvSpPr/>
          <p:nvPr/>
        </p:nvSpPr>
        <p:spPr>
          <a:xfrm>
            <a:off x="696772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16368" y="178308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Decision Support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0607040" y="198424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10607040" y="19842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2706624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67728" y="288036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90A20"/>
          </a:solidFill>
          <a:ln/>
        </p:spPr>
      </p:sp>
      <p:sp>
        <p:nvSpPr>
          <p:cNvPr id="42" name="Text 40"/>
          <p:cNvSpPr/>
          <p:nvPr/>
        </p:nvSpPr>
        <p:spPr>
          <a:xfrm>
            <a:off x="6967728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516368" y="270662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Link Analysis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10607040" y="29077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45" name="Text 43"/>
          <p:cNvSpPr/>
          <p:nvPr/>
        </p:nvSpPr>
        <p:spPr>
          <a:xfrm>
            <a:off x="10607040" y="29077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66560" y="3630168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67728" y="38039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90A20"/>
          </a:solidFill>
          <a:ln/>
        </p:spPr>
      </p:sp>
      <p:sp>
        <p:nvSpPr>
          <p:cNvPr id="48" name="Text 46"/>
          <p:cNvSpPr/>
          <p:nvPr/>
        </p:nvSpPr>
        <p:spPr>
          <a:xfrm>
            <a:off x="6967728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516368" y="363016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Early Warning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10607040" y="383133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AD7E2"/>
          </a:solidFill>
          <a:ln/>
        </p:spPr>
      </p:sp>
      <p:sp>
        <p:nvSpPr>
          <p:cNvPr id="51" name="Text 49"/>
          <p:cNvSpPr/>
          <p:nvPr/>
        </p:nvSpPr>
        <p:spPr>
          <a:xfrm>
            <a:off x="10607040" y="38313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66560" y="4553712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67728" y="4727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90A20"/>
          </a:solidFill>
          <a:ln/>
        </p:spPr>
      </p:sp>
      <p:sp>
        <p:nvSpPr>
          <p:cNvPr id="54" name="Text 52"/>
          <p:cNvSpPr/>
          <p:nvPr/>
        </p:nvSpPr>
        <p:spPr>
          <a:xfrm>
            <a:off x="6967728" y="4727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516368" y="455371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10607040" y="47548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7B978"/>
          </a:solidFill>
          <a:ln/>
        </p:spPr>
      </p:sp>
      <p:sp>
        <p:nvSpPr>
          <p:cNvPr id="57" name="Text 55"/>
          <p:cNvSpPr/>
          <p:nvPr/>
        </p:nvSpPr>
        <p:spPr>
          <a:xfrm>
            <a:off x="10607040" y="4754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766560" y="5477256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1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C89BB4">
                <a:alpha val="3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967728" y="56509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90A20"/>
          </a:solidFill>
          <a:ln/>
        </p:spPr>
      </p:sp>
      <p:sp>
        <p:nvSpPr>
          <p:cNvPr id="60" name="Text 58"/>
          <p:cNvSpPr/>
          <p:nvPr/>
        </p:nvSpPr>
        <p:spPr>
          <a:xfrm>
            <a:off x="6967728" y="5650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516368" y="5477256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&amp; Governance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10607040" y="567842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7B978"/>
          </a:solidFill>
          <a:ln/>
        </p:spPr>
      </p:sp>
      <p:sp>
        <p:nvSpPr>
          <p:cNvPr id="63" name="Text 61"/>
          <p:cNvSpPr/>
          <p:nvPr/>
        </p:nvSpPr>
        <p:spPr>
          <a:xfrm>
            <a:off x="10607040" y="56784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B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   </a:t>
            </a:r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  </a:t>
            </a:r>
            <a:pPr indent="0" marL="0">
              <a:buNone/>
            </a:pPr>
            <a:r>
              <a:rPr lang="en-US" sz="1250" b="1" dirty="0">
                <a:solidFill>
                  <a:srgbClr val="CB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50" b="1" dirty="0">
                <a:solidFill>
                  <a:srgbClr val="9E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0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290A20">
              <a:alpha val="0"/>
            </a:srgbClr>
          </a:solidFill>
          <a:ln w="19050">
            <a:solidFill>
              <a:srgbClr val="FF3D7F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22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lookups to proactive policing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0299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→ seconds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88720" y="25786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9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that took manual lookup becomes one spoken question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182880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0299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→ visible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132320" y="25786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9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hotspots and repeat-offender clusters surfaced automatically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538728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73989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→ ಕನ್ನಡ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188720" y="428853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9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the database in every field officer's hands, by voice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3538728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373989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3D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box → evidence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132320" y="428853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9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is cited and auditable for accountability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 investigating officers  ·  crime analysts  ·  station &amp; district supervisors  ·  state policymakers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0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1192" y="-2926080"/>
            <a:ext cx="5852160" cy="585216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2103120"/>
            <a:ext cx="4206240" cy="4206240"/>
          </a:xfrm>
          <a:prstGeom prst="ellipse">
            <a:avLst/>
          </a:prstGeom>
          <a:solidFill>
            <a:srgbClr val="290A20">
              <a:alpha val="0"/>
            </a:srgbClr>
          </a:solidFill>
          <a:ln w="12700">
            <a:solidFill>
              <a:srgbClr val="5A1E4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-1371600"/>
            <a:ext cx="2743200" cy="2743200"/>
          </a:xfrm>
          <a:prstGeom prst="ellipse">
            <a:avLst/>
          </a:prstGeom>
          <a:solidFill>
            <a:srgbClr val="290A20">
              <a:alpha val="0"/>
            </a:srgbClr>
          </a:solidFill>
          <a:ln w="19050">
            <a:solidFill>
              <a:srgbClr val="FF3D7F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8229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3E10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868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whole picture.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41248" y="33832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D9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Conversational, explainable crime intelligence — built Catalyst-native for Karnataka State Police.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480560"/>
            <a:ext cx="3429000" cy="914400"/>
          </a:xfrm>
          <a:prstGeom prst="roundRect">
            <a:avLst>
              <a:gd name="adj" fmla="val 12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" y="49194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github.com/&lt;org&gt;/drishti-crime-intel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80560" y="4480560"/>
            <a:ext cx="3429000" cy="914400"/>
          </a:xfrm>
          <a:prstGeom prst="roundRect">
            <a:avLst>
              <a:gd name="adj" fmla="val 12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0" y="49194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&lt;project&gt;.catalystserverless.com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38160" y="4480560"/>
            <a:ext cx="3429000" cy="914400"/>
          </a:xfrm>
          <a:prstGeom prst="roundRect">
            <a:avLst>
              <a:gd name="adj" fmla="val 12000"/>
            </a:avLst>
          </a:prstGeom>
          <a:solidFill>
            <a:srgbClr val="3E1030"/>
          </a:solidFill>
          <a:ln w="12700">
            <a:solidFill>
              <a:srgbClr val="6E24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0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0" y="49194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youtu.be/&lt;unlisted-id&gt;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KSPH26  ·  Datathon 2026  ·  Prototype uses synthetic data only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— Conversational Crime Intelligence</dc:title>
  <dc:subject>PptxGenJS Presentation</dc:subject>
  <dc:creator>Drishti Team</dc:creator>
  <cp:lastModifiedBy>Drishti Team</cp:lastModifiedBy>
  <cp:revision>1</cp:revision>
  <dcterms:created xsi:type="dcterms:W3CDTF">2026-07-26T17:38:30Z</dcterms:created>
  <dcterms:modified xsi:type="dcterms:W3CDTF">2026-07-26T17:38:30Z</dcterms:modified>
</cp:coreProperties>
</file>
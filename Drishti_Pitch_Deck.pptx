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Theft</c:v>
                </c:pt>
              </c:strCache>
            </c:strRef>
          </c:tx>
          <c:spPr>
            <a:solidFill>
              <a:srgbClr val="F5A623"/>
            </a:solidFill>
            <a:ln w="38100" cap="flat">
              <a:solidFill>
                <a:srgbClr val="F5A62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A623"/>
              </a:solidFill>
              <a:ln w="9525" cap="flat">
                <a:solidFill>
                  <a:srgbClr val="F5A62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42</c:v>
                </c:pt>
                <c:pt idx="1">
                  <c:v>38</c:v>
                </c:pt>
                <c:pt idx="2">
                  <c:v>45</c:v>
                </c:pt>
                <c:pt idx="3">
                  <c:v>52</c:v>
                </c:pt>
                <c:pt idx="4">
                  <c:v>61</c:v>
                </c:pt>
                <c:pt idx="5">
                  <c:v>68</c:v>
                </c:pt>
                <c:pt idx="6">
                  <c:v>74</c:v>
                </c:pt>
                <c:pt idx="7">
                  <c:v>66</c:v>
                </c:pt>
                <c:pt idx="8">
                  <c:v>58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Assault</c:v>
                </c:pt>
              </c:strCache>
            </c:strRef>
          </c:tx>
          <c:spPr>
            <a:solidFill>
              <a:srgbClr val="8A5CF6"/>
            </a:solidFill>
            <a:ln w="38100" cap="flat">
              <a:solidFill>
                <a:srgbClr val="8A5CF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A5CF6"/>
              </a:solidFill>
              <a:ln w="9525" cap="flat">
                <a:solidFill>
                  <a:srgbClr val="8A5CF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21</c:v>
                </c:pt>
                <c:pt idx="1">
                  <c:v>19</c:v>
                </c:pt>
                <c:pt idx="2">
                  <c:v>24</c:v>
                </c:pt>
                <c:pt idx="3">
                  <c:v>22</c:v>
                </c:pt>
                <c:pt idx="4">
                  <c:v>28</c:v>
                </c:pt>
                <c:pt idx="5">
                  <c:v>31</c:v>
                </c:pt>
                <c:pt idx="6">
                  <c:v>35</c:v>
                </c:pt>
                <c:pt idx="7">
                  <c:v>30</c:v>
                </c:pt>
                <c:pt idx="8">
                  <c:v>26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79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12700" cap="flat">
              <a:solidFill>
                <a:srgbClr val="E1E6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794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B7794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51192" y="-2926080"/>
            <a:ext cx="5852160" cy="5852160"/>
          </a:xfrm>
          <a:prstGeom prst="ellipse">
            <a:avLst/>
          </a:prstGeom>
          <a:solidFill>
            <a:srgbClr val="0A1633">
              <a:alpha val="0"/>
            </a:srgbClr>
          </a:solidFill>
          <a:ln w="12700">
            <a:solidFill>
              <a:srgbClr val="23407A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74152" y="-2103120"/>
            <a:ext cx="4206240" cy="4206240"/>
          </a:xfrm>
          <a:prstGeom prst="ellipse">
            <a:avLst/>
          </a:prstGeom>
          <a:solidFill>
            <a:srgbClr val="0A1633">
              <a:alpha val="0"/>
            </a:srgbClr>
          </a:solidFill>
          <a:ln w="12700">
            <a:solidFill>
              <a:srgbClr val="23407A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05672" y="-1371600"/>
            <a:ext cx="2743200" cy="2743200"/>
          </a:xfrm>
          <a:prstGeom prst="ellipse">
            <a:avLst/>
          </a:prstGeom>
          <a:solidFill>
            <a:srgbClr val="0A1633">
              <a:alpha val="0"/>
            </a:srgbClr>
          </a:solidFill>
          <a:ln w="19050">
            <a:solidFill>
              <a:srgbClr val="F5A623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77724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13244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" y="97475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868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DRISHTI  ·  ದೃಷ್ಟಿ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148840"/>
            <a:ext cx="10607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Conversational Crime</a:t>
            </a:r>
            <a:endParaRPr lang="en-US" sz="50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 &amp; Analytics</a:t>
            </a:r>
            <a:endParaRPr lang="en-US" sz="5000" dirty="0"/>
          </a:p>
        </p:txBody>
      </p:sp>
      <p:sp>
        <p:nvSpPr>
          <p:cNvPr id="9" name="Text 6"/>
          <p:cNvSpPr/>
          <p:nvPr/>
        </p:nvSpPr>
        <p:spPr>
          <a:xfrm>
            <a:off x="841248" y="434340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C4C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state crime database in English or Kannada — by voice — and get answers that are visual, evidence-backed, and explainable.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841248" y="553212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132447"/>
          </a:solidFill>
          <a:ln w="12700">
            <a:solidFill>
              <a:srgbClr val="2C4A8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1248" y="553212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7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Zoho Catalyst-native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3511296" y="5532120"/>
            <a:ext cx="1961388" cy="457200"/>
          </a:xfrm>
          <a:prstGeom prst="roundRect">
            <a:avLst>
              <a:gd name="adj" fmla="val 50000"/>
            </a:avLst>
          </a:prstGeom>
          <a:solidFill>
            <a:srgbClr val="132447"/>
          </a:solidFill>
          <a:ln w="12700">
            <a:solidFill>
              <a:srgbClr val="2C4A8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511296" y="5532120"/>
            <a:ext cx="19613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7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+ ಕನ್ನಡ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655564" y="5532120"/>
            <a:ext cx="1540764" cy="457200"/>
          </a:xfrm>
          <a:prstGeom prst="roundRect">
            <a:avLst>
              <a:gd name="adj" fmla="val 50000"/>
            </a:avLst>
          </a:prstGeom>
          <a:solidFill>
            <a:srgbClr val="132447"/>
          </a:solidFill>
          <a:ln w="12700">
            <a:solidFill>
              <a:srgbClr val="2C4A8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55564" y="5532120"/>
            <a:ext cx="15407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7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+ PDF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379208" y="5532120"/>
            <a:ext cx="1856232" cy="457200"/>
          </a:xfrm>
          <a:prstGeom prst="roundRect">
            <a:avLst>
              <a:gd name="adj" fmla="val 50000"/>
            </a:avLst>
          </a:prstGeom>
          <a:solidFill>
            <a:srgbClr val="132447"/>
          </a:solidFill>
          <a:ln w="12700">
            <a:solidFill>
              <a:srgbClr val="2C4A8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79208" y="5532120"/>
            <a:ext cx="1856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7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41248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7C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KSPH26  ·  Datathon 2026  ·  Karnataka State Police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869680" y="6355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ದೃಷ್ಟಿ = insight / vision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2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Crime data holds the answers — but nobody can ask it questions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8892AA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496312"/>
            <a:ext cx="128016" cy="1088136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/>
        </p:spPr>
      </p:sp>
      <p:sp>
        <p:nvSpPr>
          <p:cNvPr id="6" name="Text 4"/>
          <p:cNvSpPr/>
          <p:nvPr/>
        </p:nvSpPr>
        <p:spPr>
          <a:xfrm>
            <a:off x="1481328" y="244144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Locked behind SQL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81328" y="2935224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FIRs, histories, and case links need dashboards and query skills field officers don't have.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766560" y="214884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8892AA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086600" y="2496312"/>
            <a:ext cx="128016" cy="1088136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7424928" y="244144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Hidden relationships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424928" y="2935224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between accused, victims, locations, accounts and MO stay buried in rows and columns.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425196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8892AA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143000" y="4599432"/>
            <a:ext cx="128016" cy="1088136"/>
          </a:xfrm>
          <a:prstGeom prst="roundRect">
            <a:avLst>
              <a:gd name="adj" fmla="val 50000"/>
            </a:avLst>
          </a:prstGeom>
          <a:solidFill>
            <a:srgbClr val="8A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1481328" y="454456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explainable or auditable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81328" y="5038344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arrive as black boxes — unacceptable for evidence and accountability.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766560" y="425196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8892AA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086600" y="4599432"/>
            <a:ext cx="128016" cy="1088136"/>
          </a:xfrm>
          <a:prstGeom prst="roundRect">
            <a:avLst>
              <a:gd name="adj" fmla="val 50000"/>
            </a:avLst>
          </a:prstGeom>
          <a:solidFill>
            <a:srgbClr val="24C4A8"/>
          </a:solidFill>
          <a:ln/>
        </p:spPr>
      </p:sp>
      <p:sp>
        <p:nvSpPr>
          <p:cNvPr id="18" name="Text 16"/>
          <p:cNvSpPr/>
          <p:nvPr/>
        </p:nvSpPr>
        <p:spPr>
          <a:xfrm>
            <a:off x="7424928" y="454456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 barrier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424928" y="5038344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Officers who don't work in English are cut off from the database entirely.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51192" y="-2926080"/>
            <a:ext cx="5852160" cy="5852160"/>
          </a:xfrm>
          <a:prstGeom prst="ellipse">
            <a:avLst/>
          </a:prstGeom>
          <a:solidFill>
            <a:srgbClr val="0A1633">
              <a:alpha val="0"/>
            </a:srgbClr>
          </a:solidFill>
          <a:ln w="12700">
            <a:solidFill>
              <a:srgbClr val="23407A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74152" y="-2103120"/>
            <a:ext cx="4206240" cy="4206240"/>
          </a:xfrm>
          <a:prstGeom prst="ellipse">
            <a:avLst/>
          </a:prstGeom>
          <a:solidFill>
            <a:srgbClr val="0A1633">
              <a:alpha val="0"/>
            </a:srgbClr>
          </a:solidFill>
          <a:ln w="12700">
            <a:solidFill>
              <a:srgbClr val="23407A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05672" y="-1371600"/>
            <a:ext cx="2743200" cy="2743200"/>
          </a:xfrm>
          <a:prstGeom prst="ellipse">
            <a:avLst/>
          </a:prstGeom>
          <a:solidFill>
            <a:srgbClr val="0A1633">
              <a:alpha val="0"/>
            </a:srgbClr>
          </a:solidFill>
          <a:ln w="19050">
            <a:solidFill>
              <a:srgbClr val="F5A623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8686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Drishti turns the crime database into a conversation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41248" y="17830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C4C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Investigators, analysts, supervisors and policymakers ask questions the way they think — and get answers backed by a transparent evidence trail.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22960" y="2743200"/>
            <a:ext cx="6400800" cy="3520440"/>
          </a:xfrm>
          <a:prstGeom prst="roundRect">
            <a:avLst>
              <a:gd name="adj" fmla="val 3636"/>
            </a:avLst>
          </a:prstGeom>
          <a:solidFill>
            <a:srgbClr val="0E1D3D"/>
          </a:solidFill>
          <a:ln w="12700">
            <a:solidFill>
              <a:srgbClr val="2638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3063240"/>
            <a:ext cx="4343400" cy="777240"/>
          </a:xfrm>
          <a:prstGeom prst="roundRect">
            <a:avLst>
              <a:gd name="adj" fmla="val 16471"/>
            </a:avLst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2697480" y="3063240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network around the accused in FIR 142/2025 and flag organized-crime links.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143000" y="4069080"/>
            <a:ext cx="4754880" cy="1051560"/>
          </a:xfrm>
          <a:prstGeom prst="roundRect">
            <a:avLst>
              <a:gd name="adj" fmla="val 12174"/>
            </a:avLst>
          </a:prstGeom>
          <a:solidFill>
            <a:srgbClr val="1C2E56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406908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7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Accused P-3391 links to 4 prior FIRs and a 3-member cluster. </a:t>
            </a:r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2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FIR 142/2025, 88/2024, 51/2024.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108960" y="5303520"/>
            <a:ext cx="3794760" cy="658368"/>
          </a:xfrm>
          <a:prstGeom prst="roundRect">
            <a:avLst>
              <a:gd name="adj" fmla="val 19444"/>
            </a:avLst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3218688" y="5303520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ಬೆಂಗಳೂರು ದಕ್ಷಿಣದ ಕಳ್ಳತನದ ಹಾಟ್‌ಸ್ಪಾಟ್‌ಗಳು?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43000" y="605332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 Voice + text  ·  English &amp; ಕನ್ನಡ  ·  context-aware follow-ups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635240" y="2743200"/>
            <a:ext cx="3749040" cy="749808"/>
          </a:xfrm>
          <a:prstGeom prst="roundRect">
            <a:avLst>
              <a:gd name="adj" fmla="val 12195"/>
            </a:avLst>
          </a:prstGeom>
          <a:solidFill>
            <a:srgbClr val="132447"/>
          </a:solidFill>
          <a:ln w="12700">
            <a:solidFill>
              <a:srgbClr val="2A42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99832" y="2916936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7799832" y="29169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48472" y="2743200"/>
            <a:ext cx="2880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  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cites FIR IDs &amp; records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635240" y="3639312"/>
            <a:ext cx="3749040" cy="749808"/>
          </a:xfrm>
          <a:prstGeom prst="roundRect">
            <a:avLst>
              <a:gd name="adj" fmla="val 12195"/>
            </a:avLst>
          </a:prstGeom>
          <a:solidFill>
            <a:srgbClr val="132447"/>
          </a:solidFill>
          <a:ln w="12700">
            <a:solidFill>
              <a:srgbClr val="2A42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99832" y="3813048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22" name="Text 20"/>
          <p:cNvSpPr/>
          <p:nvPr/>
        </p:nvSpPr>
        <p:spPr>
          <a:xfrm>
            <a:off x="7799832" y="3813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348472" y="3639312"/>
            <a:ext cx="2880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  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Networks, hotspot maps, trend charts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635240" y="4535424"/>
            <a:ext cx="3749040" cy="749808"/>
          </a:xfrm>
          <a:prstGeom prst="roundRect">
            <a:avLst>
              <a:gd name="adj" fmla="val 12195"/>
            </a:avLst>
          </a:prstGeom>
          <a:solidFill>
            <a:srgbClr val="132447"/>
          </a:solidFill>
          <a:ln w="12700">
            <a:solidFill>
              <a:srgbClr val="2A42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99832" y="4709160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26" name="Text 24"/>
          <p:cNvSpPr/>
          <p:nvPr/>
        </p:nvSpPr>
        <p:spPr>
          <a:xfrm>
            <a:off x="7799832" y="4709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348472" y="4535424"/>
            <a:ext cx="2880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  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+ Kannada, voice-enabled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635240" y="5431536"/>
            <a:ext cx="3749040" cy="749808"/>
          </a:xfrm>
          <a:prstGeom prst="roundRect">
            <a:avLst>
              <a:gd name="adj" fmla="val 12195"/>
            </a:avLst>
          </a:prstGeom>
          <a:solidFill>
            <a:srgbClr val="132447"/>
          </a:solidFill>
          <a:ln w="12700">
            <a:solidFill>
              <a:srgbClr val="2A42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99832" y="5605272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30" name="Text 28"/>
          <p:cNvSpPr/>
          <p:nvPr/>
        </p:nvSpPr>
        <p:spPr>
          <a:xfrm>
            <a:off x="7799832" y="5605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348472" y="5431536"/>
            <a:ext cx="2880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  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+ full audit log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pillars, built deep for the demo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525780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8892AA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88720" y="2103120"/>
            <a:ext cx="777240" cy="777240"/>
          </a:xfrm>
          <a:prstGeom prst="roundRect">
            <a:avLst>
              <a:gd name="adj" fmla="val 50000"/>
            </a:avLst>
          </a:prstGeom>
          <a:solidFill>
            <a:srgbClr val="24C4A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5258" y="2289658"/>
            <a:ext cx="404165" cy="40416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26280" y="2121408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F3F5FB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26280" y="212140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148840" y="212140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162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Conversational Intelligence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207008" y="3017520"/>
            <a:ext cx="4489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chatbot over FIRs, accused, victims, locations &amp; history. English + Kannada, voice, PDF export.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766560" y="1737360"/>
            <a:ext cx="525780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8892AA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0" y="2103120"/>
            <a:ext cx="777240" cy="77724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858" y="2289658"/>
            <a:ext cx="404165" cy="404165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0469880" y="2121408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F3F5FB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0469880" y="212140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 2 · 7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8092440" y="212140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162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&amp; Relationship Analysis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7150608" y="3017520"/>
            <a:ext cx="4489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of accused ↔ victims ↔ locations ↔ accounts. Detects repeat-offender &amp; organized-crime clusters.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822960" y="4206240"/>
            <a:ext cx="525780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8892AA">
                <a:alpha val="2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1188720" y="4572000"/>
            <a:ext cx="777240" cy="777240"/>
          </a:xfrm>
          <a:prstGeom prst="roundRect">
            <a:avLst>
              <a:gd name="adj" fmla="val 50000"/>
            </a:avLst>
          </a:prstGeom>
          <a:solidFill>
            <a:srgbClr val="8A5CF6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5258" y="4758538"/>
            <a:ext cx="404165" cy="404165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4526280" y="4590288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F3F5FB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526280" y="459028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3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2148840" y="459028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162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Pattern &amp; Trend Analytics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1207008" y="5486400"/>
            <a:ext cx="4489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by time, geography, type &amp; MO. Hotspot map, seasonal and emerging-cluster detection.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6766560" y="4206240"/>
            <a:ext cx="525780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8892AA">
                <a:alpha val="2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132320" y="4572000"/>
            <a:ext cx="777240" cy="77724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8858" y="4758538"/>
            <a:ext cx="404165" cy="404165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10469880" y="4590288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F3F5FB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10469880" y="459028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5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8092440" y="459028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162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Offender Profiling</a:t>
            </a:r>
            <a:endParaRPr lang="en-US" sz="1700" dirty="0"/>
          </a:p>
        </p:txBody>
      </p:sp>
      <p:sp>
        <p:nvSpPr>
          <p:cNvPr id="31" name="Text 25"/>
          <p:cNvSpPr/>
          <p:nvPr/>
        </p:nvSpPr>
        <p:spPr>
          <a:xfrm>
            <a:off x="7150608" y="5486400"/>
            <a:ext cx="4489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Repeat-offender ID, behavioral/MO profiling and AI risk scoring to prioritize investigation.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51192" y="-2926080"/>
            <a:ext cx="5852160" cy="5852160"/>
          </a:xfrm>
          <a:prstGeom prst="ellipse">
            <a:avLst/>
          </a:prstGeom>
          <a:solidFill>
            <a:srgbClr val="0A1633">
              <a:alpha val="0"/>
            </a:srgbClr>
          </a:solidFill>
          <a:ln w="12700">
            <a:solidFill>
              <a:srgbClr val="23407A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74152" y="-2103120"/>
            <a:ext cx="4206240" cy="4206240"/>
          </a:xfrm>
          <a:prstGeom prst="ellipse">
            <a:avLst/>
          </a:prstGeom>
          <a:solidFill>
            <a:srgbClr val="0A1633">
              <a:alpha val="0"/>
            </a:srgbClr>
          </a:solidFill>
          <a:ln w="12700">
            <a:solidFill>
              <a:srgbClr val="23407A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05672" y="-1371600"/>
            <a:ext cx="2743200" cy="2743200"/>
          </a:xfrm>
          <a:prstGeom prst="ellipse">
            <a:avLst/>
          </a:prstGeom>
          <a:solidFill>
            <a:srgbClr val="0A1633">
              <a:alpha val="0"/>
            </a:srgbClr>
          </a:solidFill>
          <a:ln w="19050">
            <a:solidFill>
              <a:srgbClr val="F5A623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82296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spoken question to a governed, cited answer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22960" y="2286000"/>
            <a:ext cx="1965960" cy="2331720"/>
          </a:xfrm>
          <a:prstGeom prst="roundRect">
            <a:avLst>
              <a:gd name="adj" fmla="val 5581"/>
            </a:avLst>
          </a:prstGeom>
          <a:solidFill>
            <a:srgbClr val="132447"/>
          </a:solidFill>
          <a:ln w="12700">
            <a:solidFill>
              <a:srgbClr val="2A427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21892" y="2560320"/>
            <a:ext cx="768096" cy="768096"/>
          </a:xfrm>
          <a:prstGeom prst="roundRect">
            <a:avLst>
              <a:gd name="adj" fmla="val 50000"/>
            </a:avLst>
          </a:prstGeom>
          <a:solidFill>
            <a:srgbClr val="26386B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6235" y="2744663"/>
            <a:ext cx="399410" cy="39941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87552" y="24505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22960" y="34290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914400" y="3858768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or text,</a:t>
            </a:r>
            <a:endParaRPr lang="en-US" sz="12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/ ಕನ್ನಡ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788920" y="3108960"/>
            <a:ext cx="1783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1"/>
          <p:cNvSpPr/>
          <p:nvPr/>
        </p:nvSpPr>
        <p:spPr>
          <a:xfrm>
            <a:off x="2967228" y="2286000"/>
            <a:ext cx="1965960" cy="2331720"/>
          </a:xfrm>
          <a:prstGeom prst="roundRect">
            <a:avLst>
              <a:gd name="adj" fmla="val 5581"/>
            </a:avLst>
          </a:prstGeom>
          <a:solidFill>
            <a:srgbClr val="132447"/>
          </a:solidFill>
          <a:ln w="12700">
            <a:solidFill>
              <a:srgbClr val="2A427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566160" y="2560320"/>
            <a:ext cx="768096" cy="7680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0503" y="2744663"/>
            <a:ext cx="399410" cy="39941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131820" y="24505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2967228" y="34290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3058668" y="3858768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parses intent</a:t>
            </a:r>
            <a:endParaRPr lang="en-US" sz="12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Zia NER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933188" y="3108960"/>
            <a:ext cx="1783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3000" dirty="0"/>
          </a:p>
        </p:txBody>
      </p:sp>
      <p:sp>
        <p:nvSpPr>
          <p:cNvPr id="21" name="Shape 17"/>
          <p:cNvSpPr/>
          <p:nvPr/>
        </p:nvSpPr>
        <p:spPr>
          <a:xfrm>
            <a:off x="5111496" y="2286000"/>
            <a:ext cx="1965960" cy="2331720"/>
          </a:xfrm>
          <a:prstGeom prst="roundRect">
            <a:avLst>
              <a:gd name="adj" fmla="val 5581"/>
            </a:avLst>
          </a:prstGeom>
          <a:solidFill>
            <a:srgbClr val="132447"/>
          </a:solidFill>
          <a:ln w="12700">
            <a:solidFill>
              <a:srgbClr val="2A427C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710428" y="2560320"/>
            <a:ext cx="768096" cy="7680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4771" y="2744663"/>
            <a:ext cx="399410" cy="39941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276088" y="24505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5111496" y="34290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</a:t>
            </a:r>
            <a:endParaRPr lang="en-US" sz="1700" dirty="0"/>
          </a:p>
        </p:txBody>
      </p:sp>
      <p:sp>
        <p:nvSpPr>
          <p:cNvPr id="26" name="Text 21"/>
          <p:cNvSpPr/>
          <p:nvPr/>
        </p:nvSpPr>
        <p:spPr>
          <a:xfrm>
            <a:off x="5202936" y="3858768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allowlist</a:t>
            </a:r>
            <a:endParaRPr lang="en-US" sz="12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Data Store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7077456" y="3108960"/>
            <a:ext cx="1783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3000" dirty="0"/>
          </a:p>
        </p:txBody>
      </p:sp>
      <p:sp>
        <p:nvSpPr>
          <p:cNvPr id="28" name="Shape 23"/>
          <p:cNvSpPr/>
          <p:nvPr/>
        </p:nvSpPr>
        <p:spPr>
          <a:xfrm>
            <a:off x="7255764" y="2286000"/>
            <a:ext cx="1965960" cy="2331720"/>
          </a:xfrm>
          <a:prstGeom prst="roundRect">
            <a:avLst>
              <a:gd name="adj" fmla="val 5581"/>
            </a:avLst>
          </a:prstGeom>
          <a:solidFill>
            <a:srgbClr val="132447"/>
          </a:solidFill>
          <a:ln w="12700">
            <a:solidFill>
              <a:srgbClr val="2A427C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7854696" y="2560320"/>
            <a:ext cx="768096" cy="768096"/>
          </a:xfrm>
          <a:prstGeom prst="roundRect">
            <a:avLst>
              <a:gd name="adj" fmla="val 50000"/>
            </a:avLst>
          </a:prstGeom>
          <a:solidFill>
            <a:srgbClr val="26386B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9039" y="2744663"/>
            <a:ext cx="399410" cy="39941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420356" y="24505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26"/>
          <p:cNvSpPr/>
          <p:nvPr/>
        </p:nvSpPr>
        <p:spPr>
          <a:xfrm>
            <a:off x="7255764" y="34290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</a:t>
            </a:r>
            <a:endParaRPr lang="en-US" sz="1700" dirty="0"/>
          </a:p>
        </p:txBody>
      </p:sp>
      <p:sp>
        <p:nvSpPr>
          <p:cNvPr id="33" name="Text 27"/>
          <p:cNvSpPr/>
          <p:nvPr/>
        </p:nvSpPr>
        <p:spPr>
          <a:xfrm>
            <a:off x="7347204" y="3858768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+ evidence</a:t>
            </a:r>
            <a:endParaRPr lang="en-US" sz="12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 + confidence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9221724" y="3108960"/>
            <a:ext cx="1783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3000" dirty="0"/>
          </a:p>
        </p:txBody>
      </p:sp>
      <p:sp>
        <p:nvSpPr>
          <p:cNvPr id="35" name="Shape 29"/>
          <p:cNvSpPr/>
          <p:nvPr/>
        </p:nvSpPr>
        <p:spPr>
          <a:xfrm>
            <a:off x="9400032" y="2286000"/>
            <a:ext cx="1965960" cy="2331720"/>
          </a:xfrm>
          <a:prstGeom prst="roundRect">
            <a:avLst>
              <a:gd name="adj" fmla="val 5581"/>
            </a:avLst>
          </a:prstGeom>
          <a:solidFill>
            <a:srgbClr val="132447"/>
          </a:solidFill>
          <a:ln w="12700">
            <a:solidFill>
              <a:srgbClr val="2A427C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9998964" y="2560320"/>
            <a:ext cx="768096" cy="7680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83307" y="2744663"/>
            <a:ext cx="399410" cy="39941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9564624" y="24505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9" name="Text 32"/>
          <p:cNvSpPr/>
          <p:nvPr/>
        </p:nvSpPr>
        <p:spPr>
          <a:xfrm>
            <a:off x="9400032" y="34290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</a:t>
            </a:r>
            <a:endParaRPr lang="en-US" sz="1700" dirty="0"/>
          </a:p>
        </p:txBody>
      </p:sp>
      <p:sp>
        <p:nvSpPr>
          <p:cNvPr id="40" name="Text 33"/>
          <p:cNvSpPr/>
          <p:nvPr/>
        </p:nvSpPr>
        <p:spPr>
          <a:xfrm>
            <a:off x="9491472" y="3858768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filter +</a:t>
            </a:r>
            <a:endParaRPr lang="en-US" sz="12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200" dirty="0"/>
          </a:p>
        </p:txBody>
      </p:sp>
      <p:sp>
        <p:nvSpPr>
          <p:cNvPr id="41" name="Shape 34"/>
          <p:cNvSpPr/>
          <p:nvPr/>
        </p:nvSpPr>
        <p:spPr>
          <a:xfrm>
            <a:off x="822960" y="5074920"/>
            <a:ext cx="10543032" cy="1051560"/>
          </a:xfrm>
          <a:prstGeom prst="roundRect">
            <a:avLst>
              <a:gd name="adj" fmla="val 10435"/>
            </a:avLst>
          </a:prstGeom>
          <a:solidFill>
            <a:srgbClr val="0E1D3D"/>
          </a:solidFill>
          <a:ln w="12700">
            <a:solidFill>
              <a:srgbClr val="26386B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1097280" y="5074920"/>
            <a:ext cx="99943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Guardrail:  </a:t>
            </a:r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D7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never runs raw SQL. Intent maps to parameterized, vetted query templates — and no answer is shown without its evidence array.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DRISHTI WINS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and governed — in every response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562356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8892AA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88720" y="214884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1622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4285" y="232440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03120" y="219456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AI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2103120" y="26517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Area 9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188720" y="3200400"/>
            <a:ext cx="4892040" cy="2606040"/>
          </a:xfrm>
          <a:prstGeom prst="roundRect">
            <a:avLst>
              <a:gd name="adj" fmla="val 3509"/>
            </a:avLst>
          </a:prstGeom>
          <a:solidFill>
            <a:srgbClr val="0E1D3D"/>
          </a:solidFill>
          <a:ln/>
        </p:spPr>
      </p:sp>
      <p:sp>
        <p:nvSpPr>
          <p:cNvPr id="10" name="Text 7"/>
          <p:cNvSpPr/>
          <p:nvPr/>
        </p:nvSpPr>
        <p:spPr>
          <a:xfrm>
            <a:off x="1389888" y="3383280"/>
            <a:ext cx="4617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8FA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AEBB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"answer_text": </a:t>
            </a:r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24C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"…",
</a:t>
            </a:r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AEBB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"language": </a:t>
            </a:r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24C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"kn",
</a:t>
            </a:r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AEBB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"evidence": </a:t>
            </a:r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["FIR 142/2025"],
</a:t>
            </a:r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AEBB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"reasoning": </a:t>
            </a:r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24C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["resolved accused →", "4 priors"],
</a:t>
            </a:r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AEBB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"confidence": </a:t>
            </a:r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24C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"high"
</a:t>
            </a:r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8FA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188720" y="589788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answer renders without its evidence array — the guardrail against ungrounded claims.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720840" y="1783080"/>
            <a:ext cx="4663440" cy="4343400"/>
          </a:xfrm>
          <a:prstGeom prst="roundRect">
            <a:avLst>
              <a:gd name="adj" fmla="val 2526"/>
            </a:avLst>
          </a:prstGeom>
          <a:solidFill>
            <a:srgbClr val="0A1633"/>
          </a:solidFill>
          <a:ln w="12700">
            <a:solidFill>
              <a:srgbClr val="26386B"/>
            </a:solidFill>
            <a:prstDash val="solid"/>
          </a:ln>
          <a:effectLst>
            <a:outerShdw sx="100000" sy="100000" kx="0" ky="0" algn="bl" rotWithShape="0" blurRad="114300" dist="38100" dir="5400000">
              <a:srgbClr val="8892AA">
                <a:alpha val="2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086600" y="214884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26386B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165" y="2324405"/>
            <a:ext cx="380390" cy="38039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001000" y="21945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 Access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8001000" y="2651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Area 10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7086600" y="3200400"/>
            <a:ext cx="3931920" cy="438912"/>
          </a:xfrm>
          <a:prstGeom prst="roundRect">
            <a:avLst>
              <a:gd name="adj" fmla="val 16667"/>
            </a:avLst>
          </a:prstGeom>
          <a:solidFill>
            <a:srgbClr val="132447"/>
          </a:solidFill>
          <a:ln/>
        </p:spPr>
      </p:sp>
      <p:sp>
        <p:nvSpPr>
          <p:cNvPr id="18" name="Shape 14"/>
          <p:cNvSpPr/>
          <p:nvPr/>
        </p:nvSpPr>
        <p:spPr>
          <a:xfrm>
            <a:off x="7251192" y="3328416"/>
            <a:ext cx="182880" cy="182880"/>
          </a:xfrm>
          <a:prstGeom prst="ellipse">
            <a:avLst/>
          </a:prstGeom>
          <a:solidFill>
            <a:srgbClr val="24C4A8"/>
          </a:solidFill>
          <a:ln/>
        </p:spPr>
      </p:sp>
      <p:sp>
        <p:nvSpPr>
          <p:cNvPr id="19" name="Text 15"/>
          <p:cNvSpPr/>
          <p:nvPr/>
        </p:nvSpPr>
        <p:spPr>
          <a:xfrm>
            <a:off x="7589520" y="320040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Investigator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7086600" y="3749040"/>
            <a:ext cx="3931920" cy="438912"/>
          </a:xfrm>
          <a:prstGeom prst="roundRect">
            <a:avLst>
              <a:gd name="adj" fmla="val 16667"/>
            </a:avLst>
          </a:prstGeom>
          <a:solidFill>
            <a:srgbClr val="132447"/>
          </a:solidFill>
          <a:ln/>
        </p:spPr>
      </p:sp>
      <p:sp>
        <p:nvSpPr>
          <p:cNvPr id="21" name="Shape 17"/>
          <p:cNvSpPr/>
          <p:nvPr/>
        </p:nvSpPr>
        <p:spPr>
          <a:xfrm>
            <a:off x="7251192" y="3877056"/>
            <a:ext cx="182880" cy="182880"/>
          </a:xfrm>
          <a:prstGeom prst="ellipse">
            <a:avLst/>
          </a:prstGeom>
          <a:solidFill>
            <a:srgbClr val="24C4A8"/>
          </a:solidFill>
          <a:ln/>
        </p:spPr>
      </p:sp>
      <p:sp>
        <p:nvSpPr>
          <p:cNvPr id="22" name="Text 18"/>
          <p:cNvSpPr/>
          <p:nvPr/>
        </p:nvSpPr>
        <p:spPr>
          <a:xfrm>
            <a:off x="7589520" y="374904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1350" dirty="0"/>
          </a:p>
        </p:txBody>
      </p:sp>
      <p:sp>
        <p:nvSpPr>
          <p:cNvPr id="23" name="Shape 19"/>
          <p:cNvSpPr/>
          <p:nvPr/>
        </p:nvSpPr>
        <p:spPr>
          <a:xfrm>
            <a:off x="7086600" y="4297680"/>
            <a:ext cx="3931920" cy="438912"/>
          </a:xfrm>
          <a:prstGeom prst="roundRect">
            <a:avLst>
              <a:gd name="adj" fmla="val 16667"/>
            </a:avLst>
          </a:prstGeom>
          <a:solidFill>
            <a:srgbClr val="132447"/>
          </a:solidFill>
          <a:ln/>
        </p:spPr>
      </p:sp>
      <p:sp>
        <p:nvSpPr>
          <p:cNvPr id="24" name="Shape 20"/>
          <p:cNvSpPr/>
          <p:nvPr/>
        </p:nvSpPr>
        <p:spPr>
          <a:xfrm>
            <a:off x="7251192" y="4425696"/>
            <a:ext cx="182880" cy="182880"/>
          </a:xfrm>
          <a:prstGeom prst="ellipse">
            <a:avLst/>
          </a:prstGeom>
          <a:solidFill>
            <a:srgbClr val="24C4A8"/>
          </a:solidFill>
          <a:ln/>
        </p:spPr>
      </p:sp>
      <p:sp>
        <p:nvSpPr>
          <p:cNvPr id="25" name="Text 21"/>
          <p:cNvSpPr/>
          <p:nvPr/>
        </p:nvSpPr>
        <p:spPr>
          <a:xfrm>
            <a:off x="7589520" y="429768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350" dirty="0"/>
          </a:p>
        </p:txBody>
      </p:sp>
      <p:sp>
        <p:nvSpPr>
          <p:cNvPr id="26" name="Shape 22"/>
          <p:cNvSpPr/>
          <p:nvPr/>
        </p:nvSpPr>
        <p:spPr>
          <a:xfrm>
            <a:off x="7086600" y="4846320"/>
            <a:ext cx="3931920" cy="438912"/>
          </a:xfrm>
          <a:prstGeom prst="roundRect">
            <a:avLst>
              <a:gd name="adj" fmla="val 16667"/>
            </a:avLst>
          </a:prstGeom>
          <a:solidFill>
            <a:srgbClr val="132447"/>
          </a:solidFill>
          <a:ln/>
        </p:spPr>
      </p:sp>
      <p:sp>
        <p:nvSpPr>
          <p:cNvPr id="27" name="Shape 23"/>
          <p:cNvSpPr/>
          <p:nvPr/>
        </p:nvSpPr>
        <p:spPr>
          <a:xfrm>
            <a:off x="7251192" y="4974336"/>
            <a:ext cx="182880" cy="182880"/>
          </a:xfrm>
          <a:prstGeom prst="ellipse">
            <a:avLst/>
          </a:prstGeom>
          <a:solidFill>
            <a:srgbClr val="24C4A8"/>
          </a:solidFill>
          <a:ln/>
        </p:spPr>
      </p:sp>
      <p:sp>
        <p:nvSpPr>
          <p:cNvPr id="28" name="Text 24"/>
          <p:cNvSpPr/>
          <p:nvPr/>
        </p:nvSpPr>
        <p:spPr>
          <a:xfrm>
            <a:off x="7589520" y="484632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Policymaker</a:t>
            </a:r>
            <a:endParaRPr lang="en-US" sz="1350" dirty="0"/>
          </a:p>
        </p:txBody>
      </p:sp>
      <p:sp>
        <p:nvSpPr>
          <p:cNvPr id="29" name="Text 25"/>
          <p:cNvSpPr/>
          <p:nvPr/>
        </p:nvSpPr>
        <p:spPr>
          <a:xfrm>
            <a:off x="7086600" y="54864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access by jurisdiction  ·  </a:t>
            </a:r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log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every query &amp; record touched.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51192" y="-2926080"/>
            <a:ext cx="5852160" cy="5852160"/>
          </a:xfrm>
          <a:prstGeom prst="ellipse">
            <a:avLst/>
          </a:prstGeom>
          <a:solidFill>
            <a:srgbClr val="0A1633">
              <a:alpha val="0"/>
            </a:srgbClr>
          </a:solidFill>
          <a:ln w="12700">
            <a:solidFill>
              <a:srgbClr val="23407A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74152" y="-2103120"/>
            <a:ext cx="4206240" cy="4206240"/>
          </a:xfrm>
          <a:prstGeom prst="ellipse">
            <a:avLst/>
          </a:prstGeom>
          <a:solidFill>
            <a:srgbClr val="0A1633">
              <a:alpha val="0"/>
            </a:srgbClr>
          </a:solidFill>
          <a:ln w="12700">
            <a:solidFill>
              <a:srgbClr val="23407A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05672" y="-1371600"/>
            <a:ext cx="2743200" cy="2743200"/>
          </a:xfrm>
          <a:prstGeom prst="ellipse">
            <a:avLst/>
          </a:prstGeom>
          <a:solidFill>
            <a:srgbClr val="0A1633">
              <a:alpha val="0"/>
            </a:srgbClr>
          </a:solidFill>
          <a:ln w="19050">
            <a:solidFill>
              <a:srgbClr val="F5A623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82296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 Zoho Catalyst-native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41248" y="1600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C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exclusively on Catalyst, as the challenge requires — every backend need met by a native component.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286000"/>
            <a:ext cx="3429000" cy="1051560"/>
          </a:xfrm>
          <a:prstGeom prst="roundRect">
            <a:avLst>
              <a:gd name="adj" fmla="val 8696"/>
            </a:avLst>
          </a:prstGeom>
          <a:solidFill>
            <a:srgbClr val="132447"/>
          </a:solidFill>
          <a:ln w="12700">
            <a:solidFill>
              <a:srgbClr val="2A42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8992" y="257860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1078992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64208" y="246888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Client Hosting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64208" y="28346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SPA — chat, graph, maps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17136" y="2286000"/>
            <a:ext cx="3429000" cy="1051560"/>
          </a:xfrm>
          <a:prstGeom prst="roundRect">
            <a:avLst>
              <a:gd name="adj" fmla="val 8696"/>
            </a:avLst>
          </a:prstGeom>
          <a:solidFill>
            <a:srgbClr val="132447"/>
          </a:solidFill>
          <a:ln w="12700">
            <a:solidFill>
              <a:srgbClr val="2A42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73168" y="257860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/>
        </p:spPr>
      </p:sp>
      <p:sp>
        <p:nvSpPr>
          <p:cNvPr id="15" name="Text 13"/>
          <p:cNvSpPr/>
          <p:nvPr/>
        </p:nvSpPr>
        <p:spPr>
          <a:xfrm>
            <a:off x="4773168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358384" y="246888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58384" y="28346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+ 4-role RBAC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11312" y="2286000"/>
            <a:ext cx="3429000" cy="1051560"/>
          </a:xfrm>
          <a:prstGeom prst="roundRect">
            <a:avLst>
              <a:gd name="adj" fmla="val 8696"/>
            </a:avLst>
          </a:prstGeom>
          <a:solidFill>
            <a:srgbClr val="132447"/>
          </a:solidFill>
          <a:ln w="12700">
            <a:solidFill>
              <a:srgbClr val="2A42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67344" y="257860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/>
        </p:spPr>
      </p:sp>
      <p:sp>
        <p:nvSpPr>
          <p:cNvPr id="20" name="Text 18"/>
          <p:cNvSpPr/>
          <p:nvPr/>
        </p:nvSpPr>
        <p:spPr>
          <a:xfrm>
            <a:off x="8467344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052560" y="246888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AppSail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052560" y="28346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engine (Node/Py)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22960" y="3593592"/>
            <a:ext cx="3429000" cy="1051560"/>
          </a:xfrm>
          <a:prstGeom prst="roundRect">
            <a:avLst>
              <a:gd name="adj" fmla="val 8696"/>
            </a:avLst>
          </a:prstGeom>
          <a:solidFill>
            <a:srgbClr val="132447"/>
          </a:solidFill>
          <a:ln w="12700">
            <a:solidFill>
              <a:srgbClr val="2A42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78992" y="38862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/>
        </p:spPr>
      </p:sp>
      <p:sp>
        <p:nvSpPr>
          <p:cNvPr id="25" name="Text 23"/>
          <p:cNvSpPr/>
          <p:nvPr/>
        </p:nvSpPr>
        <p:spPr>
          <a:xfrm>
            <a:off x="1078992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664208" y="377647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Zia OCR + NER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664208" y="414223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Kannada OCR, 10 Indian langs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17136" y="3593592"/>
            <a:ext cx="3429000" cy="1051560"/>
          </a:xfrm>
          <a:prstGeom prst="roundRect">
            <a:avLst>
              <a:gd name="adj" fmla="val 8696"/>
            </a:avLst>
          </a:prstGeom>
          <a:solidFill>
            <a:srgbClr val="132447"/>
          </a:solidFill>
          <a:ln w="12700">
            <a:solidFill>
              <a:srgbClr val="2A42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73168" y="38862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/>
        </p:spPr>
      </p:sp>
      <p:sp>
        <p:nvSpPr>
          <p:cNvPr id="30" name="Text 28"/>
          <p:cNvSpPr/>
          <p:nvPr/>
        </p:nvSpPr>
        <p:spPr>
          <a:xfrm>
            <a:off x="4773168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358384" y="377647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Store + NoSQL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58384" y="414223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 schema + graph &amp; history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211312" y="3593592"/>
            <a:ext cx="3429000" cy="1051560"/>
          </a:xfrm>
          <a:prstGeom prst="roundRect">
            <a:avLst>
              <a:gd name="adj" fmla="val 8696"/>
            </a:avLst>
          </a:prstGeom>
          <a:solidFill>
            <a:srgbClr val="132447"/>
          </a:solidFill>
          <a:ln w="12700">
            <a:solidFill>
              <a:srgbClr val="2A427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467344" y="38862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/>
        </p:spPr>
      </p:sp>
      <p:sp>
        <p:nvSpPr>
          <p:cNvPr id="35" name="Text 33"/>
          <p:cNvSpPr/>
          <p:nvPr/>
        </p:nvSpPr>
        <p:spPr>
          <a:xfrm>
            <a:off x="8467344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9052560" y="377647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Stratus + Cache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052560" y="414223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 / files + session context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822960" y="4901184"/>
            <a:ext cx="3429000" cy="1051560"/>
          </a:xfrm>
          <a:prstGeom prst="roundRect">
            <a:avLst>
              <a:gd name="adj" fmla="val 8696"/>
            </a:avLst>
          </a:prstGeom>
          <a:solidFill>
            <a:srgbClr val="132447"/>
          </a:solidFill>
          <a:ln w="12700">
            <a:solidFill>
              <a:srgbClr val="2A427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78992" y="519379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/>
        </p:spPr>
      </p:sp>
      <p:sp>
        <p:nvSpPr>
          <p:cNvPr id="40" name="Text 38"/>
          <p:cNvSpPr/>
          <p:nvPr/>
        </p:nvSpPr>
        <p:spPr>
          <a:xfrm>
            <a:off x="1078992" y="5193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1664208" y="508406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QuickML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664208" y="544982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 + forecasting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4517136" y="4901184"/>
            <a:ext cx="3429000" cy="1051560"/>
          </a:xfrm>
          <a:prstGeom prst="roundRect">
            <a:avLst>
              <a:gd name="adj" fmla="val 8696"/>
            </a:avLst>
          </a:prstGeom>
          <a:solidFill>
            <a:srgbClr val="132447"/>
          </a:solidFill>
          <a:ln w="12700">
            <a:solidFill>
              <a:srgbClr val="2A427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73168" y="519379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/>
        </p:spPr>
      </p:sp>
      <p:sp>
        <p:nvSpPr>
          <p:cNvPr id="45" name="Text 43"/>
          <p:cNvSpPr/>
          <p:nvPr/>
        </p:nvSpPr>
        <p:spPr>
          <a:xfrm>
            <a:off x="4773168" y="5193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5358384" y="508406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 + Scheduler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358384" y="544982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Early-warning alerts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8211312" y="4901184"/>
            <a:ext cx="3429000" cy="1051560"/>
          </a:xfrm>
          <a:prstGeom prst="roundRect">
            <a:avLst>
              <a:gd name="adj" fmla="val 8696"/>
            </a:avLst>
          </a:prstGeom>
          <a:solidFill>
            <a:srgbClr val="132447"/>
          </a:solidFill>
          <a:ln w="12700">
            <a:solidFill>
              <a:srgbClr val="2A427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467344" y="519379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/>
        </p:spPr>
      </p:sp>
      <p:sp>
        <p:nvSpPr>
          <p:cNvPr id="50" name="Text 48"/>
          <p:cNvSpPr/>
          <p:nvPr/>
        </p:nvSpPr>
        <p:spPr>
          <a:xfrm>
            <a:off x="8467344" y="5193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9052560" y="508406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Signals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9052560" y="544982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Audit-log event fan-out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external call — an LLM for language understanding — runs server-side from AppSail, so deployment stays entirely on Catalyst.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IN 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Trends, hotspots and risk — at a glance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676656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8892AA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88720" y="20574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Reported incidents by month — theft vs. assault</a:t>
            </a:r>
            <a:endParaRPr lang="en-US" sz="15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1051560" y="2514600"/>
          <a:ext cx="6263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863840" y="178308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8892AA">
                <a:alpha val="2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863840" y="1783080"/>
            <a:ext cx="128016" cy="132588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9" name="Text 6"/>
          <p:cNvSpPr/>
          <p:nvPr/>
        </p:nvSpPr>
        <p:spPr>
          <a:xfrm>
            <a:off x="8183880" y="1947672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62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8202168" y="26791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 clusters flagged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863840" y="3264408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8892AA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863840" y="3264408"/>
            <a:ext cx="128016" cy="132588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/>
        </p:spPr>
      </p:sp>
      <p:sp>
        <p:nvSpPr>
          <p:cNvPr id="13" name="Text 10"/>
          <p:cNvSpPr/>
          <p:nvPr/>
        </p:nvSpPr>
        <p:spPr>
          <a:xfrm>
            <a:off x="8183880" y="34290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62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8202168" y="41605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offenders risk-ranked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863840" y="4745736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8892AA">
                <a:alpha val="2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863840" y="4745736"/>
            <a:ext cx="128016" cy="1325880"/>
          </a:xfrm>
          <a:prstGeom prst="roundRect">
            <a:avLst>
              <a:gd name="adj" fmla="val 50000"/>
            </a:avLst>
          </a:prstGeom>
          <a:solidFill>
            <a:srgbClr val="24C4A8"/>
          </a:solidFill>
          <a:ln/>
        </p:spPr>
      </p:sp>
      <p:sp>
        <p:nvSpPr>
          <p:cNvPr id="17" name="Text 14"/>
          <p:cNvSpPr/>
          <p:nvPr/>
        </p:nvSpPr>
        <p:spPr>
          <a:xfrm>
            <a:off x="8183880" y="4910328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62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</a:t>
            </a:r>
            <a:endParaRPr lang="en-US" sz="4000" dirty="0"/>
          </a:p>
        </p:txBody>
      </p:sp>
      <p:sp>
        <p:nvSpPr>
          <p:cNvPr id="18" name="Text 15"/>
          <p:cNvSpPr/>
          <p:nvPr/>
        </p:nvSpPr>
        <p:spPr>
          <a:xfrm>
            <a:off x="8202168" y="564184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band → priority queue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COVERAGE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10 areas addressed — honest about depth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52578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8892AA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24128" y="1956816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0A1633"/>
          </a:solidFill>
          <a:ln/>
        </p:spPr>
      </p:sp>
      <p:sp>
        <p:nvSpPr>
          <p:cNvPr id="6" name="Text 4"/>
          <p:cNvSpPr/>
          <p:nvPr/>
        </p:nvSpPr>
        <p:spPr>
          <a:xfrm>
            <a:off x="1024128" y="19568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72768" y="1783080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Interface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663440" y="1984248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24C4A8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198424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2706624"/>
            <a:ext cx="52578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8892AA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24128" y="2880360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0A1633"/>
          </a:solidFill>
          <a:ln/>
        </p:spPr>
      </p:sp>
      <p:sp>
        <p:nvSpPr>
          <p:cNvPr id="12" name="Text 10"/>
          <p:cNvSpPr/>
          <p:nvPr/>
        </p:nvSpPr>
        <p:spPr>
          <a:xfrm>
            <a:off x="1024128" y="2880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572768" y="2706624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&amp; Relationship Analysis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663440" y="2907792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24C4A8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290779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" y="3630168"/>
            <a:ext cx="52578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8892AA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24128" y="3803904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0A1633"/>
          </a:solidFill>
          <a:ln/>
        </p:spPr>
      </p:sp>
      <p:sp>
        <p:nvSpPr>
          <p:cNvPr id="18" name="Text 16"/>
          <p:cNvSpPr/>
          <p:nvPr/>
        </p:nvSpPr>
        <p:spPr>
          <a:xfrm>
            <a:off x="1024128" y="38039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572768" y="3630168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&amp; Trend Analytics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663440" y="3831336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24C4A8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383133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22960" y="4553712"/>
            <a:ext cx="52578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8892AA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24128" y="472744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0A1633"/>
          </a:solidFill>
          <a:ln/>
        </p:spPr>
      </p:sp>
      <p:sp>
        <p:nvSpPr>
          <p:cNvPr id="24" name="Text 22"/>
          <p:cNvSpPr/>
          <p:nvPr/>
        </p:nvSpPr>
        <p:spPr>
          <a:xfrm>
            <a:off x="1024128" y="4727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572768" y="4553712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Sociological Insights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4663440" y="4754880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27" name="Text 25"/>
          <p:cNvSpPr/>
          <p:nvPr/>
        </p:nvSpPr>
        <p:spPr>
          <a:xfrm>
            <a:off x="4663440" y="475488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22960" y="5477256"/>
            <a:ext cx="52578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8892AA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24128" y="565099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0A1633"/>
          </a:solidFill>
          <a:ln/>
        </p:spPr>
      </p:sp>
      <p:sp>
        <p:nvSpPr>
          <p:cNvPr id="30" name="Text 28"/>
          <p:cNvSpPr/>
          <p:nvPr/>
        </p:nvSpPr>
        <p:spPr>
          <a:xfrm>
            <a:off x="1024128" y="5650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572768" y="5477256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Offender Profiling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4663440" y="5678424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24C4A8"/>
          </a:solidFill>
          <a:ln/>
        </p:spPr>
      </p:sp>
      <p:sp>
        <p:nvSpPr>
          <p:cNvPr id="33" name="Text 31"/>
          <p:cNvSpPr/>
          <p:nvPr/>
        </p:nvSpPr>
        <p:spPr>
          <a:xfrm>
            <a:off x="4663440" y="567842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766560" y="1783080"/>
            <a:ext cx="52578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8892AA">
                <a:alpha val="2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967728" y="1956816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0A1633"/>
          </a:solidFill>
          <a:ln/>
        </p:spPr>
      </p:sp>
      <p:sp>
        <p:nvSpPr>
          <p:cNvPr id="36" name="Text 34"/>
          <p:cNvSpPr/>
          <p:nvPr/>
        </p:nvSpPr>
        <p:spPr>
          <a:xfrm>
            <a:off x="6967728" y="19568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516368" y="1783080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Investigator Decision Support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10607040" y="1984248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39" name="Text 37"/>
          <p:cNvSpPr/>
          <p:nvPr/>
        </p:nvSpPr>
        <p:spPr>
          <a:xfrm>
            <a:off x="10607040" y="198424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766560" y="2706624"/>
            <a:ext cx="52578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8892AA">
                <a:alpha val="2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967728" y="2880360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0A1633"/>
          </a:solidFill>
          <a:ln/>
        </p:spPr>
      </p:sp>
      <p:sp>
        <p:nvSpPr>
          <p:cNvPr id="42" name="Text 40"/>
          <p:cNvSpPr/>
          <p:nvPr/>
        </p:nvSpPr>
        <p:spPr>
          <a:xfrm>
            <a:off x="6967728" y="2880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516368" y="2706624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Link Analysis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10607040" y="2907792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45" name="Text 43"/>
          <p:cNvSpPr/>
          <p:nvPr/>
        </p:nvSpPr>
        <p:spPr>
          <a:xfrm>
            <a:off x="10607040" y="290779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766560" y="3630168"/>
            <a:ext cx="52578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8892AA">
                <a:alpha val="2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967728" y="3803904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0A1633"/>
          </a:solidFill>
          <a:ln/>
        </p:spPr>
      </p:sp>
      <p:sp>
        <p:nvSpPr>
          <p:cNvPr id="48" name="Text 46"/>
          <p:cNvSpPr/>
          <p:nvPr/>
        </p:nvSpPr>
        <p:spPr>
          <a:xfrm>
            <a:off x="6967728" y="38039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7516368" y="3630168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&amp; Early Warning</a:t>
            </a:r>
            <a:endParaRPr lang="en-US" sz="1350" dirty="0"/>
          </a:p>
        </p:txBody>
      </p:sp>
      <p:sp>
        <p:nvSpPr>
          <p:cNvPr id="50" name="Shape 48"/>
          <p:cNvSpPr/>
          <p:nvPr/>
        </p:nvSpPr>
        <p:spPr>
          <a:xfrm>
            <a:off x="10607040" y="3831336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DDE3F0"/>
          </a:solidFill>
          <a:ln/>
        </p:spPr>
      </p:sp>
      <p:sp>
        <p:nvSpPr>
          <p:cNvPr id="51" name="Text 49"/>
          <p:cNvSpPr/>
          <p:nvPr/>
        </p:nvSpPr>
        <p:spPr>
          <a:xfrm>
            <a:off x="10607040" y="383133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766560" y="4553712"/>
            <a:ext cx="52578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8892AA">
                <a:alpha val="2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967728" y="472744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0A1633"/>
          </a:solidFill>
          <a:ln/>
        </p:spPr>
      </p:sp>
      <p:sp>
        <p:nvSpPr>
          <p:cNvPr id="54" name="Text 52"/>
          <p:cNvSpPr/>
          <p:nvPr/>
        </p:nvSpPr>
        <p:spPr>
          <a:xfrm>
            <a:off x="6967728" y="4727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7516368" y="4553712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</a:t>
            </a:r>
            <a:endParaRPr lang="en-US" sz="1350" dirty="0"/>
          </a:p>
        </p:txBody>
      </p:sp>
      <p:sp>
        <p:nvSpPr>
          <p:cNvPr id="56" name="Shape 54"/>
          <p:cNvSpPr/>
          <p:nvPr/>
        </p:nvSpPr>
        <p:spPr>
          <a:xfrm>
            <a:off x="10607040" y="4754880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24C4A8"/>
          </a:solidFill>
          <a:ln/>
        </p:spPr>
      </p:sp>
      <p:sp>
        <p:nvSpPr>
          <p:cNvPr id="57" name="Text 55"/>
          <p:cNvSpPr/>
          <p:nvPr/>
        </p:nvSpPr>
        <p:spPr>
          <a:xfrm>
            <a:off x="10607040" y="475488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766560" y="5477256"/>
            <a:ext cx="52578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8892AA">
                <a:alpha val="28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6967728" y="565099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0A1633"/>
          </a:solidFill>
          <a:ln/>
        </p:spPr>
      </p:sp>
      <p:sp>
        <p:nvSpPr>
          <p:cNvPr id="60" name="Text 58"/>
          <p:cNvSpPr/>
          <p:nvPr/>
        </p:nvSpPr>
        <p:spPr>
          <a:xfrm>
            <a:off x="6967728" y="5650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7516368" y="5477256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&amp; Governance</a:t>
            </a:r>
            <a:endParaRPr lang="en-US" sz="1350" dirty="0"/>
          </a:p>
        </p:txBody>
      </p:sp>
      <p:sp>
        <p:nvSpPr>
          <p:cNvPr id="62" name="Shape 60"/>
          <p:cNvSpPr/>
          <p:nvPr/>
        </p:nvSpPr>
        <p:spPr>
          <a:xfrm>
            <a:off x="10607040" y="5678424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24C4A8"/>
          </a:solidFill>
          <a:ln/>
        </p:spPr>
      </p:sp>
      <p:sp>
        <p:nvSpPr>
          <p:cNvPr id="63" name="Text 61"/>
          <p:cNvSpPr/>
          <p:nvPr/>
        </p:nvSpPr>
        <p:spPr>
          <a:xfrm>
            <a:off x="10607040" y="567842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822960" y="6309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1250" b="1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   </a:t>
            </a:r>
            <a:pPr indent="0" marL="0"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1250" b="1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   </a:t>
            </a:r>
            <a:pPr indent="0" marL="0">
              <a:buNone/>
            </a:pPr>
            <a:r>
              <a:rPr lang="en-US" sz="1250" b="1" dirty="0">
                <a:solidFill>
                  <a:srgbClr val="A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1250" b="1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51192" y="-2926080"/>
            <a:ext cx="5852160" cy="5852160"/>
          </a:xfrm>
          <a:prstGeom prst="ellipse">
            <a:avLst/>
          </a:prstGeom>
          <a:solidFill>
            <a:srgbClr val="0A1633">
              <a:alpha val="0"/>
            </a:srgbClr>
          </a:solidFill>
          <a:ln w="12700">
            <a:solidFill>
              <a:srgbClr val="23407A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74152" y="-2103120"/>
            <a:ext cx="4206240" cy="4206240"/>
          </a:xfrm>
          <a:prstGeom prst="ellipse">
            <a:avLst/>
          </a:prstGeom>
          <a:solidFill>
            <a:srgbClr val="0A1633">
              <a:alpha val="0"/>
            </a:srgbClr>
          </a:solidFill>
          <a:ln w="12700">
            <a:solidFill>
              <a:srgbClr val="23407A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05672" y="-1371600"/>
            <a:ext cx="2743200" cy="2743200"/>
          </a:xfrm>
          <a:prstGeom prst="ellipse">
            <a:avLst/>
          </a:prstGeom>
          <a:solidFill>
            <a:srgbClr val="0A1633">
              <a:alpha val="0"/>
            </a:srgbClr>
          </a:solidFill>
          <a:ln w="19050">
            <a:solidFill>
              <a:srgbClr val="F5A623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82296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reactive lookups to proactive policing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822960" y="1828800"/>
            <a:ext cx="5257800" cy="1417320"/>
          </a:xfrm>
          <a:prstGeom prst="roundRect">
            <a:avLst>
              <a:gd name="adj" fmla="val 7742"/>
            </a:avLst>
          </a:prstGeom>
          <a:solidFill>
            <a:srgbClr val="132447"/>
          </a:solidFill>
          <a:ln w="12700">
            <a:solidFill>
              <a:srgbClr val="2A42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2029968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Hours → seconds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188720" y="2578608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4C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that took manual lookup becomes one spoken question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766560" y="1828800"/>
            <a:ext cx="5257800" cy="1417320"/>
          </a:xfrm>
          <a:prstGeom prst="roundRect">
            <a:avLst>
              <a:gd name="adj" fmla="val 7742"/>
            </a:avLst>
          </a:prstGeom>
          <a:solidFill>
            <a:srgbClr val="132447"/>
          </a:solidFill>
          <a:ln w="12700">
            <a:solidFill>
              <a:srgbClr val="2A42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0" y="2029968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Hidden → visible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7132320" y="2578608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4C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Networks, hotspots and repeat-offender clusters surfaced automatically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3538728"/>
            <a:ext cx="5257800" cy="1417320"/>
          </a:xfrm>
          <a:prstGeom prst="roundRect">
            <a:avLst>
              <a:gd name="adj" fmla="val 7742"/>
            </a:avLst>
          </a:prstGeom>
          <a:solidFill>
            <a:srgbClr val="132447"/>
          </a:solidFill>
          <a:ln w="12700">
            <a:solidFill>
              <a:srgbClr val="2A42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3739896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English → ಕನ್ನಡ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188720" y="4288536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4C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Puts the database in every field officer's hands, by voice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766560" y="3538728"/>
            <a:ext cx="5257800" cy="1417320"/>
          </a:xfrm>
          <a:prstGeom prst="roundRect">
            <a:avLst>
              <a:gd name="adj" fmla="val 7742"/>
            </a:avLst>
          </a:prstGeom>
          <a:solidFill>
            <a:srgbClr val="132447"/>
          </a:solidFill>
          <a:ln w="12700">
            <a:solidFill>
              <a:srgbClr val="2A42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0" y="3739896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Black box → evidence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7132320" y="4288536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4C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insight is cited and auditable for accountability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Users:  investigating officers  ·  crime analysts  ·  station &amp; district supervisors  ·  state policymakers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51192" y="-2926080"/>
            <a:ext cx="5852160" cy="5852160"/>
          </a:xfrm>
          <a:prstGeom prst="ellipse">
            <a:avLst/>
          </a:prstGeom>
          <a:solidFill>
            <a:srgbClr val="0A1633">
              <a:alpha val="0"/>
            </a:srgbClr>
          </a:solidFill>
          <a:ln w="12700">
            <a:solidFill>
              <a:srgbClr val="23407A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74152" y="-2103120"/>
            <a:ext cx="4206240" cy="4206240"/>
          </a:xfrm>
          <a:prstGeom prst="ellipse">
            <a:avLst/>
          </a:prstGeom>
          <a:solidFill>
            <a:srgbClr val="0A1633">
              <a:alpha val="0"/>
            </a:srgbClr>
          </a:solidFill>
          <a:ln w="12700">
            <a:solidFill>
              <a:srgbClr val="23407A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05672" y="-1371600"/>
            <a:ext cx="2743200" cy="2743200"/>
          </a:xfrm>
          <a:prstGeom prst="ellipse">
            <a:avLst/>
          </a:prstGeom>
          <a:solidFill>
            <a:srgbClr val="0A1633">
              <a:alpha val="0"/>
            </a:srgbClr>
          </a:solidFill>
          <a:ln w="19050">
            <a:solidFill>
              <a:srgbClr val="F5A623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82296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13244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" y="102047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8686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Drishti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822960" y="22860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the whole picture.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841248" y="33832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C4C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Conversational, explainable crime intelligence — built Catalyst-native for Karnataka State Police.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22960" y="4480560"/>
            <a:ext cx="3429000" cy="914400"/>
          </a:xfrm>
          <a:prstGeom prst="roundRect">
            <a:avLst>
              <a:gd name="adj" fmla="val 12000"/>
            </a:avLst>
          </a:prstGeom>
          <a:solidFill>
            <a:srgbClr val="132447"/>
          </a:solidFill>
          <a:ln w="12700">
            <a:solidFill>
              <a:srgbClr val="2A427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7280" y="4617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97280" y="491947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github.com/&lt;org&gt;/drishti-crime-intel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480560" y="4480560"/>
            <a:ext cx="3429000" cy="914400"/>
          </a:xfrm>
          <a:prstGeom prst="roundRect">
            <a:avLst>
              <a:gd name="adj" fmla="val 12000"/>
            </a:avLst>
          </a:prstGeom>
          <a:solidFill>
            <a:srgbClr val="132447"/>
          </a:solidFill>
          <a:ln w="12700">
            <a:solidFill>
              <a:srgbClr val="2A427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54880" y="4617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754880" y="491947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&lt;project&gt;.catalystserverless.com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138160" y="4480560"/>
            <a:ext cx="3429000" cy="914400"/>
          </a:xfrm>
          <a:prstGeom prst="roundRect">
            <a:avLst>
              <a:gd name="adj" fmla="val 12000"/>
            </a:avLst>
          </a:prstGeom>
          <a:solidFill>
            <a:srgbClr val="132447"/>
          </a:solidFill>
          <a:ln w="12700">
            <a:solidFill>
              <a:srgbClr val="2A427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12480" y="4617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412480" y="491947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youtu.be/&lt;unlisted-id&gt;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7C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KSPH26  ·  Datathon 2026  ·  Prototype uses synthetic data only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Drishti — Conversational Crime Intelligence</dc:title>
  <dc:subject>PptxGenJS Presentation</dc:subject>
  <dc:creator>Drishti Team</dc:creator>
  <cp:lastModifiedBy>Drishti Team</cp:lastModifiedBy>
  <cp:revision>1</cp:revision>
  <dcterms:created xsi:type="dcterms:W3CDTF">2026-07-26T17:26:25Z</dcterms:created>
  <dcterms:modified xsi:type="dcterms:W3CDTF">2026-07-26T17:26:25Z</dcterms:modified>
</cp:coreProperties>
</file>